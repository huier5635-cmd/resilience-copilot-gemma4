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ec2333fb9e4ea5" /><Relationship Type="http://schemas.openxmlformats.org/officeDocument/2006/relationships/extended-properties" Target="/docProps/app.xml" Id="Rca8bb7c1a4dc4726" /><Relationship Type="http://schemas.openxmlformats.org/officeDocument/2006/relationships/officeDocument" Target="/ppt/presentation.xml" Id="Rb00a34058a4545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bf89b1b7b2467e"/>
  </p:sldMasterIdLst>
  <p:notesMasterIdLst>
    <p:notesMasterId xmlns:r="http://schemas.openxmlformats.org/officeDocument/2006/relationships" r:id="R25e3e1231c3b4ffb"/>
  </p:notesMasterIdLst>
  <p:sldIdLst>
    <p:sldId xmlns:r="http://schemas.openxmlformats.org/officeDocument/2006/relationships" id="256" r:id="R9fd4d6e7d1c34dce"/>
    <p:sldId xmlns:r="http://schemas.openxmlformats.org/officeDocument/2006/relationships" id="257" r:id="Rbcdfcf4a32ac45ea"/>
    <p:sldId xmlns:r="http://schemas.openxmlformats.org/officeDocument/2006/relationships" id="258" r:id="Rff7d71ee778e472c"/>
    <p:sldId xmlns:r="http://schemas.openxmlformats.org/officeDocument/2006/relationships" id="259" r:id="R1aff3d87c64f4421"/>
    <p:sldId xmlns:r="http://schemas.openxmlformats.org/officeDocument/2006/relationships" id="260" r:id="R92853a9834f742c5"/>
    <p:sldId xmlns:r="http://schemas.openxmlformats.org/officeDocument/2006/relationships" id="261" r:id="Rf431fb177cdf44b8"/>
    <p:sldId xmlns:r="http://schemas.openxmlformats.org/officeDocument/2006/relationships" id="262" r:id="R75eb75443ea54f7d"/>
    <p:sldId xmlns:r="http://schemas.openxmlformats.org/officeDocument/2006/relationships" id="263" r:id="R1ecfba7a175a45a9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bf89b1b7b2467e" /><Relationship Type="http://schemas.openxmlformats.org/officeDocument/2006/relationships/theme" Target="/ppt/theme/theme1.xml" Id="Ra54ef5567a8d4736" /><Relationship Type="http://schemas.openxmlformats.org/officeDocument/2006/relationships/notesMaster" Target="/ppt/notesMasters/notesMaster1.xml" Id="R25e3e1231c3b4ffb" /><Relationship Type="http://schemas.openxmlformats.org/officeDocument/2006/relationships/presProps" Target="/ppt/presProps.xml" Id="R43394a11ab884480" /><Relationship Type="http://schemas.openxmlformats.org/officeDocument/2006/relationships/viewProps" Target="/ppt/viewProps.xml" Id="R3ca191554fb54cb1" /><Relationship Type="http://schemas.openxmlformats.org/officeDocument/2006/relationships/tableStyles" Target="/ppt/tableStyles.xml" Id="R401fde8de5c94061" /><Relationship Type="http://schemas.openxmlformats.org/officeDocument/2006/relationships/slide" Target="/ppt/slides/slide1.xml" Id="R9fd4d6e7d1c34dce" /><Relationship Type="http://schemas.openxmlformats.org/officeDocument/2006/relationships/slide" Target="/ppt/slides/slide2.xml" Id="Rbcdfcf4a32ac45ea" /><Relationship Type="http://schemas.openxmlformats.org/officeDocument/2006/relationships/slide" Target="/ppt/slides/slide3.xml" Id="Rff7d71ee778e472c" /><Relationship Type="http://schemas.openxmlformats.org/officeDocument/2006/relationships/slide" Target="/ppt/slides/slide4.xml" Id="R1aff3d87c64f4421" /><Relationship Type="http://schemas.openxmlformats.org/officeDocument/2006/relationships/slide" Target="/ppt/slides/slide5.xml" Id="R92853a9834f742c5" /><Relationship Type="http://schemas.openxmlformats.org/officeDocument/2006/relationships/slide" Target="/ppt/slides/slide6.xml" Id="Rf431fb177cdf44b8" /><Relationship Type="http://schemas.openxmlformats.org/officeDocument/2006/relationships/slide" Target="/ppt/slides/slide7.xml" Id="R75eb75443ea54f7d" /><Relationship Type="http://schemas.openxmlformats.org/officeDocument/2006/relationships/slide" Target="/ppt/slides/slide8.xml" Id="R1ecfba7a175a45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28d0ae66a9544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7904eef31443b2" /><Relationship Type="http://schemas.openxmlformats.org/officeDocument/2006/relationships/notesMaster" Target="/ppt/notesMasters/notesMaster1.xml" Id="R928c3c6913e142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3dfecd255a4e33" /><Relationship Type="http://schemas.openxmlformats.org/officeDocument/2006/relationships/notesMaster" Target="/ppt/notesMasters/notesMaster1.xml" Id="R0463965d0fe143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e91afab9f64550" /><Relationship Type="http://schemas.openxmlformats.org/officeDocument/2006/relationships/notesMaster" Target="/ppt/notesMasters/notesMaster1.xml" Id="R92e8ce337b924a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fbcb4038764ee8" /><Relationship Type="http://schemas.openxmlformats.org/officeDocument/2006/relationships/notesMaster" Target="/ppt/notesMasters/notesMaster1.xml" Id="R1f9bc7fe53494e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f6e8d740694b58" /><Relationship Type="http://schemas.openxmlformats.org/officeDocument/2006/relationships/notesMaster" Target="/ppt/notesMasters/notesMaster1.xml" Id="Rf2f40190ba5e4b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35656e60d744de" /><Relationship Type="http://schemas.openxmlformats.org/officeDocument/2006/relationships/notesMaster" Target="/ppt/notesMasters/notesMaster1.xml" Id="R82ae0ba85b5f41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966a5d098e40e2" /><Relationship Type="http://schemas.openxmlformats.org/officeDocument/2006/relationships/notesMaster" Target="/ppt/notesMasters/notesMaster1.xml" Id="Rc9d21d2cdbb948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402c1213334db9" /><Relationship Type="http://schemas.openxmlformats.org/officeDocument/2006/relationships/notesMaster" Target="/ppt/notesMasters/notesMaster1.xml" Id="R189fb62369c348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ec326bb36443c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0de8c2f6c3a4078" /><Relationship Type="http://schemas.openxmlformats.org/officeDocument/2006/relationships/slideLayout" Target="/ppt/slideLayouts/slideLayout2.xml" Id="R625455fffc1943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5455fffc1943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873d3d5c854834" /><Relationship Type="http://schemas.openxmlformats.org/officeDocument/2006/relationships/image" Target="/ppt/media/image.png" Id="R8584316925554a2c" /><Relationship Type="http://schemas.openxmlformats.org/officeDocument/2006/relationships/notesSlide" Target="/ppt/notesSlides/notesSlide1.xml" Id="R7a482d9f027e49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6a385165014623" /><Relationship Type="http://schemas.openxmlformats.org/officeDocument/2006/relationships/notesSlide" Target="/ppt/notesSlides/notesSlide2.xml" Id="R6a40f5db260947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0581dcace442b9" /><Relationship Type="http://schemas.openxmlformats.org/officeDocument/2006/relationships/notesSlide" Target="/ppt/notesSlides/notesSlide3.xml" Id="Rf2d00e96b53340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5029e51b474368" /><Relationship Type="http://schemas.openxmlformats.org/officeDocument/2006/relationships/image" Target="/ppt/media/image2.png" Id="R58e725b8888b47b9" /><Relationship Type="http://schemas.openxmlformats.org/officeDocument/2006/relationships/notesSlide" Target="/ppt/notesSlides/notesSlide4.xml" Id="R8dce396d063241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971fd059c64ebf" /><Relationship Type="http://schemas.openxmlformats.org/officeDocument/2006/relationships/notesSlide" Target="/ppt/notesSlides/notesSlide5.xml" Id="Rba965a6f643440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cf96c115eb4778" /><Relationship Type="http://schemas.openxmlformats.org/officeDocument/2006/relationships/chart" Target="/ppt/slides/charts/chart1.xml" Id="R4e66bfff2f1b43de" /><Relationship Type="http://schemas.openxmlformats.org/officeDocument/2006/relationships/notesSlide" Target="/ppt/notesSlides/notesSlide6.xml" Id="Rfa37957776704b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5050c7289e4608" /><Relationship Type="http://schemas.openxmlformats.org/officeDocument/2006/relationships/image" Target="/ppt/media/image3.png" Id="R0fa5d79ccae64bf6" /><Relationship Type="http://schemas.openxmlformats.org/officeDocument/2006/relationships/notesSlide" Target="/ppt/notesSlides/notesSlide7.xml" Id="R2903a2e86ff64f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edb31d5d0b43c6" /><Relationship Type="http://schemas.openxmlformats.org/officeDocument/2006/relationships/notesSlide" Target="/ppt/notesSlides/notesSlide8.xml" Id="Rc81c0ddf0b994668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Passes by validation split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Passed</c:v>
          </c:tx>
          <c:cat>
            <c:strLit>
              <c:ptCount val="3"/>
              <c:pt idx="0">
                <c:v>Demo</c:v>
              </c:pt>
              <c:pt idx="1">
                <c:v>Holdout</c:v>
              </c:pt>
              <c:pt idx="2">
                <c:v>Stress</c:v>
              </c:pt>
            </c:strLit>
          </c:cat>
          <c:val>
            <c:numLit>
              <c:formatCode/>
              <c:ptCount val="3"/>
              <c:pt idx="0">
                <c:v>2</c:v>
              </c:pt>
              <c:pt idx="1">
                <c:v>2</c:v>
              </c:pt>
              <c:pt idx="2">
                <c:v>10</c:v>
              </c:pt>
            </c:numLit>
          </c:val>
        </c:ser>
        <c:ser>
          <c:idx val="1"/>
          <c:order val="1"/>
          <c:tx>
            <c:v>Required</c:v>
          </c:tx>
          <c:cat>
            <c:strLit>
              <c:ptCount val="3"/>
              <c:pt idx="0">
                <c:v>Demo</c:v>
              </c:pt>
              <c:pt idx="1">
                <c:v>Holdout</c:v>
              </c:pt>
              <c:pt idx="2">
                <c:v>Stress</c:v>
              </c:pt>
            </c:strLit>
          </c:cat>
          <c:val>
            <c:numLit>
              <c:formatCode/>
              <c:ptCount val="3"/>
              <c:pt idx="0">
                <c:v>2</c:v>
              </c:pt>
              <c:pt idx="1">
                <c:v>2</c:v>
              </c:pt>
              <c:pt idx="2">
                <c:v>10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9D6D0B4-0AFF-4EDF-981D-052A7633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51F"/>
          </a:solidFill>
        </p:spPr>
      </p:sp>
      <p:sp>
        <p:nvSpPr>
          <p:cNvPr id="2" name="badge-gemma-4-good">
            <a:extLst xmlns:a="http://schemas.openxmlformats.org/drawingml/2006/main">
              <a:ext uri="{FF2B5EF4-FFF2-40B4-BE49-F238E27FC236}">
                <a16:creationId xmlns:a16="http://schemas.microsoft.com/office/drawing/2014/main" id="{FEBE17FE-338F-4A5C-931D-90D446D2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15621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E2C5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BE279-A994-494D-91B3-2F0DAA3A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121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51F"/>
                </a:solidFill>
              </a:defRPr>
            </a:pPr>
            <a:r>
              <a:rPr sz="1350" b="1">
                <a:solidFill>
                  <a:srgbClr val="10151F"/>
                </a:solidFill>
              </a:rPr>
              <a:t>Gemma 4 Good</a:t>
            </a:r>
          </a:p>
        </p:txBody>
      </p:sp>
      <p:sp>
        <p:nvSpPr>
          <p:cNvPr id="4" name="badge-safety-first-crisis-ai">
            <a:extLst xmlns:a="http://schemas.openxmlformats.org/drawingml/2006/main">
              <a:ext uri="{FF2B5EF4-FFF2-40B4-BE49-F238E27FC236}">
                <a16:creationId xmlns:a16="http://schemas.microsoft.com/office/drawing/2014/main" id="{7EE5449C-FCD7-4CC5-97D0-DF402E35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86100"/>
            <a:ext cx="2286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A66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58181-9969-4777-B2A0-635ED4A3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81350"/>
            <a:ext cx="1924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Safety-first crisis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B1AE4-F84A-4928-AE68-6B12FA36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8477250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FFFFFF"/>
                </a:solidFill>
              </a:defRPr>
            </a:pPr>
            <a:r>
              <a:rPr sz="8400" b="1">
                <a:solidFill>
                  <a:srgbClr val="FFFFFF"/>
                </a:solidFill>
              </a:rPr>
              <a:t>Resilience</a:t>
            </a:r>
          </a:p>
          <a:p xmlns:a="http://schemas.openxmlformats.org/drawingml/2006/main">
            <a:pPr>
              <a:defRPr sz="8400" b="1">
                <a:solidFill>
                  <a:srgbClr val="FFFFFF"/>
                </a:solidFill>
              </a:defRPr>
            </a:pPr>
            <a:r>
              <a:rPr sz="8400" b="1">
                <a:solidFill>
                  <a:srgbClr val="FFFFFF"/>
                </a:solidFill>
              </a:rPr>
              <a:t>Copilot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EFD19-0546-42B2-BB16-CD9A63BD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96050"/>
            <a:ext cx="6972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DDE5EE"/>
                </a:solidFill>
              </a:defRPr>
            </a:pPr>
            <a:r>
              <a:rPr sz="2325">
                <a:solidFill>
                  <a:srgbClr val="DDE5EE"/>
                </a:solidFill>
              </a:rPr>
              <a:t>A field-ready assistant that turns messy disaster notes into playbook-backed checks and safer handoffs.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F98AC-3E2D-4A06-A35D-3645ECDD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666750"/>
            <a:ext cx="767334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EF919-2FA6-4959-8F02-F2183CB0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914400"/>
            <a:ext cx="716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51F"/>
                </a:solidFill>
              </a:defRPr>
            </a:pPr>
            <a:r>
              <a:rPr sz="1575" b="1">
                <a:solidFill>
                  <a:srgbClr val="10151F"/>
                </a:solidFill>
              </a:rPr>
              <a:t>rough note -&gt; risk sidecar -&gt; playbook basis -&gt; Gemma 4 -&gt; responder packet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2C926-BC9D-4323-8A39-6D2E76B6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1562100"/>
            <a:ext cx="7673340" cy="7810500"/>
          </a:xfrm>
          <a:prstGeom xmlns:a="http://schemas.openxmlformats.org/drawingml/2006/main" prst="roundRect">
            <a:avLst>
              <a:gd name="adj" fmla="val 4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DD0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4316925554a2c"/>
          <a:stretch xmlns:a="http://schemas.openxmlformats.org/drawingml/2006/main"/>
        </p:blipFill>
        <p:spPr>
          <a:xfrm xmlns:a="http://schemas.openxmlformats.org/drawingml/2006/main">
            <a:off x="9871710" y="2869142"/>
            <a:ext cx="7482840" cy="519641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3396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31E9FAE-C7C6-4858-A1DE-5B76A5CE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66525-8527-4BB5-97E3-75E053A7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400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6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85EBD-E3FA-4CEE-81F1-45BD2DF1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85800"/>
            <a:ext cx="914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470"/>
                </a:solidFill>
              </a:defRPr>
            </a:pPr>
            <a:r>
              <a:rPr sz="1200" b="1">
                <a:solidFill>
                  <a:srgbClr val="5D6470"/>
                </a:solidFill>
              </a:rPr>
              <a:t>THE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C2768-2C27-4C03-8458-0EECCC1B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76350"/>
            <a:ext cx="737235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0151F"/>
                </a:solidFill>
              </a:defRPr>
            </a:pPr>
            <a:r>
              <a:rPr sz="5400" b="1">
                <a:solidFill>
                  <a:srgbClr val="10151F"/>
                </a:solidFill>
              </a:rPr>
              <a:t>In a crisis, a confident wrong answer is a liability.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FE2E1-138E-4E26-8D75-89EDC6ED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5715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D6470"/>
                </a:solidFill>
              </a:defRPr>
            </a:pPr>
            <a:r>
              <a:rPr sz="2175">
                <a:solidFill>
                  <a:srgbClr val="5D6470"/>
                </a:solidFill>
              </a:rPr>
              <a:t>Volunteers need structured triage notes, not fluent improvisation under pressure.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96B8456-9307-4FB1-899E-F3E15DA8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0"/>
            <a:ext cx="7372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A808A"/>
                </a:solidFill>
              </a:defRPr>
            </a:pPr>
            <a:r>
              <a:rPr sz="1125">
                <a:solidFill>
                  <a:srgbClr val="7A808A"/>
                </a:solidFill>
              </a:rPr>
              <a:t>Resilience Copilot | Gemma 4 Good Hackathon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EA362-0D7A-4EFE-A804-6BDB5CBB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096" y="2667000"/>
            <a:ext cx="8661654" cy="3067050"/>
          </a:xfrm>
          <a:prstGeom xmlns:a="http://schemas.openxmlformats.org/drawingml/2006/main" prst="roundRect">
            <a:avLst>
              <a:gd name="adj" fmla="val 1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D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4F057-D614-46D0-B439-57609CF6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00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6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A08A1-074F-4C2D-8272-0C7D114E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67050"/>
            <a:ext cx="7677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B828C"/>
                </a:solidFill>
              </a:defRPr>
            </a:pPr>
            <a:r>
              <a:rPr sz="1200">
                <a:solidFill>
                  <a:srgbClr val="7B828C"/>
                </a:solidFill>
              </a:rPr>
              <a:t>Case note says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E1F0D-1451-47C2-BCDE-8D1AB28C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38500"/>
            <a:ext cx="767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51F"/>
                </a:solidFill>
              </a:defRPr>
            </a:pPr>
            <a:r>
              <a:rPr sz="1725" b="1">
                <a:solidFill>
                  <a:srgbClr val="10151F"/>
                </a:solidFill>
              </a:rPr>
              <a:t>older adult + oxygen + power outage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ACFBB-A971-4C1E-B93F-9C909EBA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14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64E67-B790-4548-92BB-74E03C12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81450"/>
            <a:ext cx="7677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B828C"/>
                </a:solidFill>
              </a:defRPr>
            </a:pPr>
            <a:r>
              <a:rPr sz="1200">
                <a:solidFill>
                  <a:srgbClr val="7B828C"/>
                </a:solidFill>
              </a:rPr>
              <a:t>Hidden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003DD-708D-4438-9BF4-4A8DBFFE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52900"/>
            <a:ext cx="767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51F"/>
                </a:solidFill>
              </a:defRPr>
            </a:pPr>
            <a:r>
              <a:rPr sz="1725" b="1">
                <a:solidFill>
                  <a:srgbClr val="10151F"/>
                </a:solidFill>
              </a:rPr>
              <a:t>powered medical device battery may fail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7EDA1D-E2DE-47FC-812F-BCCFEE10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29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A5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B1410D-39DC-4F91-96CC-D96E6296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95850"/>
            <a:ext cx="7677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B828C"/>
                </a:solidFill>
              </a:defRPr>
            </a:pPr>
            <a:r>
              <a:rPr sz="1200">
                <a:solidFill>
                  <a:srgbClr val="7B828C"/>
                </a:solidFill>
              </a:rPr>
              <a:t>Unsafe chatbot failure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DE6221-DF69-4FAF-802E-2DBFA99D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67300"/>
            <a:ext cx="767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51F"/>
                </a:solidFill>
              </a:defRPr>
            </a:pPr>
            <a:r>
              <a:rPr sz="1725" b="1">
                <a:solidFill>
                  <a:srgbClr val="10151F"/>
                </a:solidFill>
              </a:rPr>
              <a:t>casual reassurance or invented local capacity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4E974-8170-45A7-8D54-1EB73D62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24600"/>
            <a:ext cx="27813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5A66"/>
                </a:solidFill>
              </a:defRPr>
            </a:pPr>
            <a:r>
              <a:rPr sz="4800" b="1">
                <a:solidFill>
                  <a:srgbClr val="FF5A66"/>
                </a:solidFill>
              </a:rPr>
              <a:t>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A163EE-644F-478D-B862-3DCDCA3C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048500"/>
            <a:ext cx="2781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51F"/>
                </a:solidFill>
              </a:defRPr>
            </a:pPr>
            <a:r>
              <a:rPr sz="1575" b="1">
                <a:solidFill>
                  <a:srgbClr val="10151F"/>
                </a:solidFill>
              </a:rPr>
              <a:t>response sections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1EE4C1-7B1F-4B1E-A876-D19047D2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324600"/>
            <a:ext cx="27813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4EA5FF"/>
                </a:solidFill>
              </a:defRPr>
            </a:pPr>
            <a:r>
              <a:rPr sz="4800" b="1">
                <a:solidFill>
                  <a:srgbClr val="4EA5FF"/>
                </a:solidFill>
              </a:rPr>
              <a:t>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6C9448-6136-4074-99F5-D3B9FA37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7048500"/>
            <a:ext cx="2781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51F"/>
                </a:solidFill>
              </a:defRPr>
            </a:pPr>
            <a:r>
              <a:rPr sz="1575" b="1">
                <a:solidFill>
                  <a:srgbClr val="10151F"/>
                </a:solidFill>
              </a:rPr>
              <a:t>stress/demo/holdout checks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5473C2-24D5-4343-81A7-E5571F46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6324600"/>
            <a:ext cx="27813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72D572"/>
                </a:solidFill>
              </a:defRPr>
            </a:pPr>
            <a:r>
              <a:rPr sz="4800" b="1">
                <a:solidFill>
                  <a:srgbClr val="72D572"/>
                </a:solidFill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D93481-14CE-491F-95CE-D8D0CBFC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7048500"/>
            <a:ext cx="2781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51F"/>
                </a:solidFill>
              </a:defRPr>
            </a:pPr>
            <a:r>
              <a:rPr sz="1575" b="1">
                <a:solidFill>
                  <a:srgbClr val="10151F"/>
                </a:solidFill>
              </a:rPr>
              <a:t>diagnosis claims</a:t>
            </a:r>
          </a:p>
        </p:txBody>
      </p:sp>
    </p:spTree>
    <p:extLst>
      <p:ext uri="{BB962C8B-B14F-4D97-AF65-F5344CB8AC3E}">
        <p14:creationId xmlns:p14="http://schemas.microsoft.com/office/powerpoint/2010/main" val="10835752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969388A-7D8B-48F6-AFB1-2208D2F7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5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C00EF-821F-477E-BC5E-E2A6F770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400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E2C5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864C8-7EED-4603-868D-9BF97BF7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7700"/>
            <a:ext cx="1352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470"/>
                </a:solidFill>
              </a:defRPr>
            </a:pPr>
            <a:r>
              <a:rPr sz="1200" b="1">
                <a:solidFill>
                  <a:srgbClr val="5D6470"/>
                </a:solidFill>
              </a:rPr>
              <a:t>PRODUCT MECHANIC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20AA4-DD89-4C21-8E57-C5F4CFB2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124968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The sidecar makes the model useful without hiding the safety rails.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48A5A-B22E-4763-B3FF-2CC2D68A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3321564" cy="4000500"/>
          </a:xfrm>
          <a:prstGeom xmlns:a="http://schemas.openxmlformats.org/drawingml/2006/main" prst="roundRect">
            <a:avLst>
              <a:gd name="adj" fmla="val 1147"/>
            </a:avLst>
          </a:prstGeom>
          <a:solidFill xmlns:a="http://schemas.openxmlformats.org/drawingml/2006/main">
            <a:srgbClr val="1B2432"/>
          </a:solidFill>
        </p:spPr>
      </p:sp>
      <p:sp>
        <p:nvSpPr>
          <p:cNvPr id="6" name="badge-1">
            <a:extLst xmlns:a="http://schemas.openxmlformats.org/drawingml/2006/main">
              <a:ext uri="{FF2B5EF4-FFF2-40B4-BE49-F238E27FC236}">
                <a16:creationId xmlns:a16="http://schemas.microsoft.com/office/drawing/2014/main" id="{6F13E4E0-3733-4702-8551-4F791A45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93995"/>
            <a:ext cx="429768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A66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C3961-35E8-429C-AD16-5649ED77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91150"/>
            <a:ext cx="76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C9FB8-F229-4CEA-B21F-EAA4352D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48350"/>
            <a:ext cx="2743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Messy intake note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83037-B106-4862-8F3E-BDA66671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381750"/>
            <a:ext cx="27432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BD5E1"/>
                </a:solidFill>
              </a:defRPr>
            </a:pPr>
            <a:r>
              <a:rPr sz="1800">
                <a:solidFill>
                  <a:srgbClr val="CBD5E1"/>
                </a:solidFill>
              </a:rPr>
              <a:t>Flood, cold children, medication, pet shelter, transport, language needs.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DF516-BE32-4A65-8160-340C9AB7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981700"/>
            <a:ext cx="4953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C857"/>
                </a:solidFill>
              </a:defRPr>
            </a:pPr>
            <a:r>
              <a:rPr sz="3450" b="1">
                <a:solidFill>
                  <a:srgbClr val="FFC857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1B53A-2077-4C63-AEA6-AB6A99AF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914" y="4248150"/>
            <a:ext cx="3506095" cy="4000500"/>
          </a:xfrm>
          <a:prstGeom xmlns:a="http://schemas.openxmlformats.org/drawingml/2006/main" prst="roundRect">
            <a:avLst>
              <a:gd name="adj" fmla="val 1087"/>
            </a:avLst>
          </a:prstGeom>
          <a:solidFill xmlns:a="http://schemas.openxmlformats.org/drawingml/2006/main">
            <a:srgbClr val="172F35"/>
          </a:solidFill>
        </p:spPr>
      </p:sp>
      <p:sp>
        <p:nvSpPr>
          <p:cNvPr id="12" name="badge-2">
            <a:extLst xmlns:a="http://schemas.openxmlformats.org/drawingml/2006/main">
              <a:ext uri="{FF2B5EF4-FFF2-40B4-BE49-F238E27FC236}">
                <a16:creationId xmlns:a16="http://schemas.microsoft.com/office/drawing/2014/main" id="{93A052B0-38DA-4955-9DF8-973E0E16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664" y="5156835"/>
            <a:ext cx="429768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E2C5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F079D-F400-4BB8-8884-6E15BAE3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257800"/>
            <a:ext cx="76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51F"/>
                </a:solidFill>
              </a:defRPr>
            </a:pPr>
            <a:r>
              <a:rPr sz="1350" b="1">
                <a:solidFill>
                  <a:srgbClr val="1015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B02C7D-A647-46E5-9AD4-3BA453BA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715000"/>
            <a:ext cx="2933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Risk sidecar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5351C-31D9-432D-8804-E957D5B6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248400"/>
            <a:ext cx="29337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6F7EE"/>
                </a:solidFill>
              </a:defRPr>
            </a:pPr>
            <a:r>
              <a:rPr sz="1800">
                <a:solidFill>
                  <a:srgbClr val="C6F7EE"/>
                </a:solidFill>
              </a:rPr>
              <a:t>Flags insulin, oxygen, pregnancy, floodwater, rumors, language access, official checks, and playbook rules.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E99EA-99C8-42A5-B99A-9453097D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981700"/>
            <a:ext cx="4953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C857"/>
                </a:solidFill>
              </a:defRPr>
            </a:pPr>
            <a:r>
              <a:rPr sz="3450" b="1">
                <a:solidFill>
                  <a:srgbClr val="FFC857"/>
                </a:solidFill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32B5DF-1E95-4282-83B6-93B37F90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09" y="4248150"/>
            <a:ext cx="3764439" cy="4000500"/>
          </a:xfrm>
          <a:prstGeom xmlns:a="http://schemas.openxmlformats.org/drawingml/2006/main" prst="roundRect">
            <a:avLst>
              <a:gd name="adj" fmla="val 1012"/>
            </a:avLst>
          </a:prstGeom>
          <a:solidFill xmlns:a="http://schemas.openxmlformats.org/drawingml/2006/main">
            <a:srgbClr val="332740"/>
          </a:solidFill>
        </p:spPr>
      </p:sp>
      <p:sp>
        <p:nvSpPr>
          <p:cNvPr id="18" name="badge-3">
            <a:extLst xmlns:a="http://schemas.openxmlformats.org/drawingml/2006/main">
              <a:ext uri="{FF2B5EF4-FFF2-40B4-BE49-F238E27FC236}">
                <a16:creationId xmlns:a16="http://schemas.microsoft.com/office/drawing/2014/main" id="{EC5FD266-4170-4CF7-BE7D-E0104162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959" y="5293995"/>
            <a:ext cx="429768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A7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236D3C-4706-499D-AFB4-E7C961D7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391150"/>
            <a:ext cx="76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51F"/>
                </a:solidFill>
              </a:defRPr>
            </a:pPr>
            <a:r>
              <a:rPr sz="1350" b="1">
                <a:solidFill>
                  <a:srgbClr val="10151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4CA0AB-DBED-4731-B461-B994E007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48350"/>
            <a:ext cx="3200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Gemma 4 answer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059B4C-FF57-4BE9-A322-117EDFC3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381750"/>
            <a:ext cx="32004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6DEFF"/>
                </a:solidFill>
              </a:defRPr>
            </a:pPr>
            <a:r>
              <a:rPr sz="1800">
                <a:solidFill>
                  <a:srgbClr val="E6DEFF"/>
                </a:solidFill>
              </a:rPr>
              <a:t>Structured plan, playbook references, clarifying questions, and visible safety boundary.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86F78A-1BA6-4E97-884C-1DC51DED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5981700"/>
            <a:ext cx="4953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C857"/>
                </a:solidFill>
              </a:defRPr>
            </a:pPr>
            <a:r>
              <a:rPr sz="3450" b="1">
                <a:solidFill>
                  <a:srgbClr val="FFC857"/>
                </a:solidFill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67DC61-2532-44EC-9594-2A0E44C6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848" y="4248150"/>
            <a:ext cx="3543002" cy="4000500"/>
          </a:xfrm>
          <a:prstGeom xmlns:a="http://schemas.openxmlformats.org/drawingml/2006/main" prst="roundRect">
            <a:avLst>
              <a:gd name="adj" fmla="val 1075"/>
            </a:avLst>
          </a:prstGeom>
          <a:solidFill xmlns:a="http://schemas.openxmlformats.org/drawingml/2006/main">
            <a:srgbClr val="203017"/>
          </a:solidFill>
        </p:spPr>
      </p:sp>
      <p:sp>
        <p:nvSpPr>
          <p:cNvPr id="24" name="badge-4">
            <a:extLst xmlns:a="http://schemas.openxmlformats.org/drawingml/2006/main">
              <a:ext uri="{FF2B5EF4-FFF2-40B4-BE49-F238E27FC236}">
                <a16:creationId xmlns:a16="http://schemas.microsoft.com/office/drawing/2014/main" id="{5AC77416-34C4-4D02-BCFF-357DAFE9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598" y="5293995"/>
            <a:ext cx="429768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2D572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B82023-385B-4B6B-90A5-9A131995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5391150"/>
            <a:ext cx="76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51F"/>
                </a:solidFill>
              </a:defRPr>
            </a:pPr>
            <a:r>
              <a:rPr sz="1350" b="1">
                <a:solidFill>
                  <a:srgbClr val="10151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F26084-D66E-4358-9F1D-D7748616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58483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Responder handoff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39B7DA-50FB-4EC7-AA30-197CFF19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6381750"/>
            <a:ext cx="29718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F9D7"/>
                </a:solidFill>
              </a:defRPr>
            </a:pPr>
            <a:r>
              <a:rPr sz="1800">
                <a:solidFill>
                  <a:srgbClr val="D9F9D7"/>
                </a:solidFill>
              </a:rPr>
              <a:t>A copy-ready handoff plus an audit trace, not a replacement for human teams.</a:t>
            </a:r>
          </a:p>
        </p:txBody>
      </p:sp>
    </p:spTree>
    <p:extLst>
      <p:ext uri="{BB962C8B-B14F-4D97-AF65-F5344CB8AC3E}">
        <p14:creationId xmlns:p14="http://schemas.microsoft.com/office/powerpoint/2010/main" val="6699777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93D60C5-2360-4957-A0FF-4CC9D9AB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26791-04DC-4A33-8897-2D4B4D94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400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3E08C-7CF3-42E5-B26A-4CB884BC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66750"/>
            <a:ext cx="704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470"/>
                </a:solidFill>
              </a:defRPr>
            </a:pPr>
            <a:r>
              <a:rPr sz="1200" b="1">
                <a:solidFill>
                  <a:srgbClr val="5D6470"/>
                </a:solidFill>
              </a:rPr>
              <a:t>LIVE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D7657-452B-4180-8BB5-6D5397FC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6248400" cy="2343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0151F"/>
                </a:solidFill>
              </a:defRPr>
            </a:pPr>
            <a:r>
              <a:rPr sz="5100" b="1">
                <a:solidFill>
                  <a:srgbClr val="10151F"/>
                </a:solidFill>
              </a:rPr>
              <a:t>Judges can poke the safety behavior directly.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80D14-FCF0-4A46-910A-53BD6AA3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63817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6470"/>
                </a:solidFill>
              </a:defRPr>
            </a:pPr>
            <a:r>
              <a:rPr sz="2025">
                <a:solidFill>
                  <a:srgbClr val="5D6470"/>
                </a:solidFill>
              </a:rPr>
              <a:t>The refreshed static demo shows a twelve-section workflow: playbook references, official checks, household message, and audit trace.</a:t>
            </a:r>
          </a:p>
        </p:txBody>
      </p:sp>
      <p:sp>
        <p:nvSpPr>
          <p:cNvPr id="6" name="badge-public-demo">
            <a:extLst xmlns:a="http://schemas.openxmlformats.org/drawingml/2006/main">
              <a:ext uri="{FF2B5EF4-FFF2-40B4-BE49-F238E27FC236}">
                <a16:creationId xmlns:a16="http://schemas.microsoft.com/office/drawing/2014/main" id="{FFCDA57A-6742-4B91-86C4-E49AEB2C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1560"/>
            <a:ext cx="1223581" cy="5829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A5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46A8C-C35B-464D-A062-121489FC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33950"/>
            <a:ext cx="876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public demo</a:t>
            </a:r>
          </a:p>
        </p:txBody>
      </p:sp>
      <p:sp>
        <p:nvSpPr>
          <p:cNvPr id="8" name="badge-public-code">
            <a:extLst xmlns:a="http://schemas.openxmlformats.org/drawingml/2006/main">
              <a:ext uri="{FF2B5EF4-FFF2-40B4-BE49-F238E27FC236}">
                <a16:creationId xmlns:a16="http://schemas.microsoft.com/office/drawing/2014/main" id="{9265FC6D-4C1F-4AD2-B9DC-FDB82D2B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131" y="4861560"/>
            <a:ext cx="1155001" cy="5829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E2C5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F444F-E0C1-4CB5-8E0F-A2845606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33950"/>
            <a:ext cx="800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51F"/>
                </a:solidFill>
              </a:defRPr>
            </a:pPr>
            <a:r>
              <a:rPr sz="1350" b="1">
                <a:solidFill>
                  <a:srgbClr val="10151F"/>
                </a:solidFill>
              </a:rPr>
              <a:t>public code</a:t>
            </a:r>
          </a:p>
        </p:txBody>
      </p:sp>
      <p:sp>
        <p:nvSpPr>
          <p:cNvPr id="10" name="badge-video-pitch">
            <a:extLst xmlns:a="http://schemas.openxmlformats.org/drawingml/2006/main">
              <a:ext uri="{FF2B5EF4-FFF2-40B4-BE49-F238E27FC236}">
                <a16:creationId xmlns:a16="http://schemas.microsoft.com/office/drawing/2014/main" id="{4DDF25A4-CF08-499F-A34E-4F59D4BC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433" y="4861560"/>
            <a:ext cx="1130522" cy="5829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22FC2-8E00-4DE6-A57A-E247841C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33950"/>
            <a:ext cx="800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51F"/>
                </a:solidFill>
              </a:defRPr>
            </a:pPr>
            <a:r>
              <a:rPr sz="1350" b="1">
                <a:solidFill>
                  <a:srgbClr val="10151F"/>
                </a:solidFill>
              </a:rPr>
              <a:t>video pitch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4C1F4A34-FB10-4352-9698-8811247E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48800"/>
            <a:ext cx="6248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A808A"/>
                </a:solidFill>
              </a:defRPr>
            </a:pPr>
            <a:r>
              <a:rPr sz="1125">
                <a:solidFill>
                  <a:srgbClr val="7A808A"/>
                </a:solidFill>
              </a:rPr>
              <a:t>Demo: huier5635-cmd.github.io/resilience-copilot-gemma4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F8FE9-ABAB-4CF2-920B-B2371B8C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7910" y="2047875"/>
            <a:ext cx="9772841" cy="6191250"/>
          </a:xfrm>
          <a:prstGeom xmlns:a="http://schemas.openxmlformats.org/drawingml/2006/main" prst="roundRect">
            <a:avLst>
              <a:gd name="adj" fmla="val 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DD0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725b8888b47b9"/>
          <a:stretch xmlns:a="http://schemas.openxmlformats.org/drawingml/2006/main"/>
        </p:blipFill>
        <p:spPr>
          <a:xfrm xmlns:a="http://schemas.openxmlformats.org/drawingml/2006/main">
            <a:off x="8326567" y="2143125"/>
            <a:ext cx="8435525" cy="6000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7549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A57FDB8-C499-454E-BD37-408C4712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5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99433-91B6-4845-92B2-9A27AF70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400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C6767-3D3C-49FB-AB9A-67ACDD15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38500"/>
            <a:ext cx="1028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470"/>
                </a:solidFill>
              </a:defRPr>
            </a:pPr>
            <a:r>
              <a:rPr sz="1200" b="1">
                <a:solidFill>
                  <a:srgbClr val="5D6470"/>
                </a:solidFill>
              </a:rPr>
              <a:t>SAFETY SIDECAR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7C6A6-4FEB-4C40-953A-A8303B98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689610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Small detector, auditable field discipline.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D6AA6-A72F-4EFD-8B45-D3B0D114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6515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CBD5E1"/>
                </a:solidFill>
              </a:defRPr>
            </a:pPr>
            <a:r>
              <a:rPr sz="2100">
                <a:solidFill>
                  <a:srgbClr val="CBD5E1"/>
                </a:solidFill>
              </a:rPr>
              <a:t>Original branch: expand the sidecar beyond demo cases into official-channel checks and traceable playbook rule IDs.</a:t>
            </a:r>
          </a:p>
        </p:txBody>
      </p:sp>
      <p:sp>
        <p:nvSpPr>
          <p:cNvPr id="6" name="badge-children-cold-exposure">
            <a:extLst xmlns:a="http://schemas.openxmlformats.org/drawingml/2006/main">
              <a:ext uri="{FF2B5EF4-FFF2-40B4-BE49-F238E27FC236}">
                <a16:creationId xmlns:a16="http://schemas.microsoft.com/office/drawing/2014/main" id="{08D2DCD9-46A0-4F48-9E5E-32DB787A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085" y="666750"/>
            <a:ext cx="4472083" cy="20812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A66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D1F45-DA18-4847-94AC-79F017D9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619250"/>
            <a:ext cx="1600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children cold exposure</a:t>
            </a:r>
          </a:p>
        </p:txBody>
      </p:sp>
      <p:sp>
        <p:nvSpPr>
          <p:cNvPr id="8" name="badge-medication-interruption">
            <a:extLst xmlns:a="http://schemas.openxmlformats.org/drawingml/2006/main">
              <a:ext uri="{FF2B5EF4-FFF2-40B4-BE49-F238E27FC236}">
                <a16:creationId xmlns:a16="http://schemas.microsoft.com/office/drawing/2014/main" id="{B82BF2F0-B31C-4E81-9EDE-522A8F20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7717" y="666750"/>
            <a:ext cx="4472083" cy="20812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7A7D5-1D75-4623-B4D8-8E2C33D9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16192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51F"/>
                </a:solidFill>
              </a:defRPr>
            </a:pPr>
            <a:r>
              <a:rPr sz="1350" b="1">
                <a:solidFill>
                  <a:srgbClr val="10151F"/>
                </a:solidFill>
              </a:rPr>
              <a:t>medication interruption</a:t>
            </a:r>
          </a:p>
        </p:txBody>
      </p:sp>
      <p:sp>
        <p:nvSpPr>
          <p:cNvPr id="10" name="badge-pregnancy-insulin">
            <a:extLst xmlns:a="http://schemas.openxmlformats.org/drawingml/2006/main">
              <a:ext uri="{FF2B5EF4-FFF2-40B4-BE49-F238E27FC236}">
                <a16:creationId xmlns:a16="http://schemas.microsoft.com/office/drawing/2014/main" id="{1376FD3B-B767-43BB-AAC7-DE0C1343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085" y="2957513"/>
            <a:ext cx="4472083" cy="20812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A7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66C76-FDB0-4FB1-9420-2DB362C0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790950"/>
            <a:ext cx="1371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51F"/>
                </a:solidFill>
              </a:defRPr>
            </a:pPr>
            <a:r>
              <a:rPr sz="1350" b="1">
                <a:solidFill>
                  <a:srgbClr val="10151F"/>
                </a:solidFill>
              </a:rPr>
              <a:t>pregnancy + insulin</a:t>
            </a:r>
          </a:p>
        </p:txBody>
      </p:sp>
      <p:sp>
        <p:nvSpPr>
          <p:cNvPr id="12" name="badge-oxygen-power-loss">
            <a:extLst xmlns:a="http://schemas.openxmlformats.org/drawingml/2006/main">
              <a:ext uri="{FF2B5EF4-FFF2-40B4-BE49-F238E27FC236}">
                <a16:creationId xmlns:a16="http://schemas.microsoft.com/office/drawing/2014/main" id="{80988B94-D2FE-40BF-AF58-04431AFA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7717" y="2957513"/>
            <a:ext cx="4472083" cy="20812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A5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76437-082A-458C-824A-98DDA877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390525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oxygen power loss</a:t>
            </a:r>
          </a:p>
        </p:txBody>
      </p:sp>
      <p:sp>
        <p:nvSpPr>
          <p:cNvPr id="14" name="badge-language-access-barrier">
            <a:extLst xmlns:a="http://schemas.openxmlformats.org/drawingml/2006/main">
              <a:ext uri="{FF2B5EF4-FFF2-40B4-BE49-F238E27FC236}">
                <a16:creationId xmlns:a16="http://schemas.microsoft.com/office/drawing/2014/main" id="{F6509140-B373-41F1-BB75-E9FC5083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085" y="5248275"/>
            <a:ext cx="4472083" cy="20812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E2C5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B7E6F5-4634-4CAF-B6BB-39664F49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191250"/>
            <a:ext cx="1676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51F"/>
                </a:solidFill>
              </a:defRPr>
            </a:pPr>
            <a:r>
              <a:rPr sz="1350" b="1">
                <a:solidFill>
                  <a:srgbClr val="10151F"/>
                </a:solidFill>
              </a:rPr>
              <a:t>language access barrier</a:t>
            </a:r>
          </a:p>
        </p:txBody>
      </p:sp>
      <p:sp>
        <p:nvSpPr>
          <p:cNvPr id="16" name="badge-unverified-shelter-rumor">
            <a:extLst xmlns:a="http://schemas.openxmlformats.org/drawingml/2006/main">
              <a:ext uri="{FF2B5EF4-FFF2-40B4-BE49-F238E27FC236}">
                <a16:creationId xmlns:a16="http://schemas.microsoft.com/office/drawing/2014/main" id="{0EBA95B7-619A-4B6E-B85E-A838292B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7717" y="5248275"/>
            <a:ext cx="4472083" cy="20812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2D572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9B9487-94D5-45B3-8DEE-DD4993A1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6191250"/>
            <a:ext cx="1752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51F"/>
                </a:solidFill>
              </a:defRPr>
            </a:pPr>
            <a:r>
              <a:rPr sz="1350" b="1">
                <a:solidFill>
                  <a:srgbClr val="10151F"/>
                </a:solidFill>
              </a:rPr>
              <a:t>unverified shelter rumor</a:t>
            </a:r>
          </a:p>
        </p:txBody>
      </p:sp>
      <p:sp>
        <p:nvSpPr>
          <p:cNvPr id="18" name="badge-playbook-grounding">
            <a:extLst xmlns:a="http://schemas.openxmlformats.org/drawingml/2006/main">
              <a:ext uri="{FF2B5EF4-FFF2-40B4-BE49-F238E27FC236}">
                <a16:creationId xmlns:a16="http://schemas.microsoft.com/office/drawing/2014/main" id="{E41F62A5-63C1-4897-9D56-F28BBA64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085" y="7539038"/>
            <a:ext cx="4472083" cy="20812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D4D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57E62B-8E03-48BA-9D2A-3D91B628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8477250"/>
            <a:ext cx="140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51F"/>
                </a:solidFill>
              </a:defRPr>
            </a:pPr>
            <a:r>
              <a:rPr sz="1350" b="1">
                <a:solidFill>
                  <a:srgbClr val="10151F"/>
                </a:solidFill>
              </a:rPr>
              <a:t>playbook grounding</a:t>
            </a:r>
          </a:p>
        </p:txBody>
      </p:sp>
      <p:sp>
        <p:nvSpPr>
          <p:cNvPr id="20" name="badge-audit-trace">
            <a:extLst xmlns:a="http://schemas.openxmlformats.org/drawingml/2006/main">
              <a:ext uri="{FF2B5EF4-FFF2-40B4-BE49-F238E27FC236}">
                <a16:creationId xmlns:a16="http://schemas.microsoft.com/office/drawing/2014/main" id="{0136AFB5-346D-4EBE-B102-27B7C2B8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7717" y="7539038"/>
            <a:ext cx="4472083" cy="20812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ADEBEF-33E1-4867-85D5-19753DF6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847725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51F"/>
                </a:solidFill>
              </a:defRPr>
            </a:pPr>
            <a:r>
              <a:rPr sz="1350" b="1">
                <a:solidFill>
                  <a:srgbClr val="10151F"/>
                </a:solidFill>
              </a:rPr>
              <a:t>audit trace</a:t>
            </a:r>
          </a:p>
        </p:txBody>
      </p:sp>
    </p:spTree>
    <p:extLst>
      <p:ext uri="{BB962C8B-B14F-4D97-AF65-F5344CB8AC3E}">
        <p14:creationId xmlns:p14="http://schemas.microsoft.com/office/powerpoint/2010/main" val="12703608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F6F227A-FBC6-4A8C-B33C-EF1834AE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D0938-0126-4BB4-A181-343F69EE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3900"/>
            <a:ext cx="400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D572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254B7-96C0-4EAE-96E4-02A7B741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66750"/>
            <a:ext cx="781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470"/>
                </a:solidFill>
              </a:defRPr>
            </a:pPr>
            <a:r>
              <a:rPr sz="1200" b="1">
                <a:solidFill>
                  <a:srgbClr val="5D6470"/>
                </a:solidFill>
              </a:rP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DE8B5-FD42-4427-9A66-9FA08679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6611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10151F"/>
                </a:solidFill>
              </a:defRPr>
            </a:pPr>
            <a:r>
              <a:rPr sz="4875" b="1">
                <a:solidFill>
                  <a:srgbClr val="10151F"/>
                </a:solidFill>
              </a:rPr>
              <a:t>Local gates prove the exact claims in the writeup.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6FAF0-7E45-4C36-BEC4-97EEFEB3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16611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D6470"/>
                </a:solidFill>
              </a:defRPr>
            </a:pPr>
            <a:r>
              <a:rPr sz="1950">
                <a:solidFill>
                  <a:srgbClr val="5D6470"/>
                </a:solidFill>
              </a:rPr>
              <a:t>No hidden dataset exists for this hackathon, so the validation is scenario-based and leakage-aware.</a:t>
            </a:r>
          </a:p>
        </p:txBody>
      </p:sp>
      <p:graphicFrame>
        <p:nvGraphicFramePr>
          <p:cNvPr id="6" name="validation-chart"/>
          <p:cNvGraphicFramePr/>
          <p:nvPr/>
        </p:nvGraphicFramePr>
        <p:xfrm>
          <a:off xmlns:a="http://schemas.openxmlformats.org/drawingml/2006/main" x="838200" y="2327910"/>
          <a:ext xmlns:a="http://schemas.openxmlformats.org/drawingml/2006/main" cx="7887653" cy="68732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66bfff2f1b43d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5EF64-D19D-469B-B1ED-2062517A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67100"/>
            <a:ext cx="82105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4EA5FF"/>
                </a:solidFill>
              </a:defRPr>
            </a:pPr>
            <a:r>
              <a:rPr sz="4800" b="1">
                <a:solidFill>
                  <a:srgbClr val="4EA5FF"/>
                </a:solidFill>
              </a:rPr>
              <a:t>2/2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95A3A-5C7A-4ACF-AAD7-29265484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10050"/>
            <a:ext cx="8210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51F"/>
                </a:solidFill>
              </a:defRPr>
            </a:pPr>
            <a:r>
              <a:rPr sz="1575" b="1">
                <a:solidFill>
                  <a:srgbClr val="10151F"/>
                </a:solidFill>
              </a:rPr>
              <a:t>demo cases: presentable examples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B989B-E471-4CAE-9247-30E770E2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76850"/>
            <a:ext cx="82105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72D572"/>
                </a:solidFill>
              </a:defRPr>
            </a:pPr>
            <a:r>
              <a:rPr sz="4800" b="1">
                <a:solidFill>
                  <a:srgbClr val="72D572"/>
                </a:solidFill>
              </a:rPr>
              <a:t>2/2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77C01-B587-42A2-86F2-55087ECB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019800"/>
            <a:ext cx="8210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51F"/>
                </a:solidFill>
              </a:defRPr>
            </a:pPr>
            <a:r>
              <a:rPr sz="1575" b="1">
                <a:solidFill>
                  <a:srgbClr val="10151F"/>
                </a:solidFill>
              </a:rPr>
              <a:t>holdout cases: not baked into prompt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8B299-14F2-44DC-8F96-C75EE11A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086600"/>
            <a:ext cx="82105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5A66"/>
                </a:solidFill>
              </a:defRPr>
            </a:pPr>
            <a:r>
              <a:rPr sz="4800" b="1">
                <a:solidFill>
                  <a:srgbClr val="FF5A66"/>
                </a:solidFill>
              </a:rPr>
              <a:t>10/10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5C50DF-3491-4A05-9F48-17F2914B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829550"/>
            <a:ext cx="8210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51F"/>
                </a:solidFill>
              </a:defRPr>
            </a:pPr>
            <a:r>
              <a:rPr sz="1575" b="1">
                <a:solidFill>
                  <a:srgbClr val="10151F"/>
                </a:solidFill>
              </a:rPr>
              <a:t>stress cases: edge-risk checks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4BBE1CD-4575-4369-8701-85C6EE5A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661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A808A"/>
                </a:solidFill>
              </a:defRPr>
            </a:pPr>
            <a:r>
              <a:rPr sz="1125">
                <a:solidFill>
                  <a:srgbClr val="7A808A"/>
                </a:solidFill>
              </a:rPr>
              <a:t>Local command: python scripts\run_local_validation.py</a:t>
            </a:r>
          </a:p>
        </p:txBody>
      </p:sp>
    </p:spTree>
    <p:extLst>
      <p:ext uri="{BB962C8B-B14F-4D97-AF65-F5344CB8AC3E}">
        <p14:creationId xmlns:p14="http://schemas.microsoft.com/office/powerpoint/2010/main" val="20265163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C1D2BD2-156E-4D0D-B403-E13E92A6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DC410-B49D-4EEC-961D-8FDAADD6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3900"/>
            <a:ext cx="400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6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5201C-03F3-4D1B-9AAB-88F1EC79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66750"/>
            <a:ext cx="1314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470"/>
                </a:solidFill>
              </a:defRPr>
            </a:pPr>
            <a:r>
              <a:rPr sz="1200" b="1">
                <a:solidFill>
                  <a:srgbClr val="5D6470"/>
                </a:solidFill>
              </a:rPr>
              <a:t>GEMMA 4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6306F-CA69-4E92-A8D5-F0A0BF66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6591300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0151F"/>
                </a:solidFill>
              </a:defRPr>
            </a:pPr>
            <a:r>
              <a:rPr sz="4950" b="1">
                <a:solidFill>
                  <a:srgbClr val="10151F"/>
                </a:solidFill>
              </a:rPr>
              <a:t>The model claim is tied to a Kaggle Notebook run.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50778-28B6-402B-9B95-A4E24F31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63436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6470"/>
                </a:solidFill>
              </a:defRPr>
            </a:pPr>
            <a:r>
              <a:rPr sz="2025">
                <a:solidFill>
                  <a:srgbClr val="5D6470"/>
                </a:solidFill>
              </a:rPr>
              <a:t>Official Kaggle model resource, logged environment, prompt, response, latency, and generated token count.</a:t>
            </a:r>
          </a:p>
        </p:txBody>
      </p:sp>
      <p:sp>
        <p:nvSpPr>
          <p:cNvPr id="6" name="badge-tesla-t4">
            <a:extLst xmlns:a="http://schemas.openxmlformats.org/drawingml/2006/main">
              <a:ext uri="{FF2B5EF4-FFF2-40B4-BE49-F238E27FC236}">
                <a16:creationId xmlns:a16="http://schemas.microsoft.com/office/drawing/2014/main" id="{66D47198-71E7-48D7-AB9B-C44A400C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54340"/>
            <a:ext cx="905066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51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82ED6-E62B-4E6F-AF34-B340160E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15340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Tesla T4</a:t>
            </a:r>
          </a:p>
        </p:txBody>
      </p:sp>
      <p:sp>
        <p:nvSpPr>
          <p:cNvPr id="8" name="badge-160-new-tokens">
            <a:extLst xmlns:a="http://schemas.openxmlformats.org/drawingml/2006/main">
              <a:ext uri="{FF2B5EF4-FFF2-40B4-BE49-F238E27FC236}">
                <a16:creationId xmlns:a16="http://schemas.microsoft.com/office/drawing/2014/main" id="{3B985D49-FACC-416B-B668-88896209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45830"/>
            <a:ext cx="1460754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B5B92-D5DA-42BE-B5C4-A313E211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648700"/>
            <a:ext cx="1104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51F"/>
                </a:solidFill>
              </a:defRPr>
            </a:pPr>
            <a:r>
              <a:rPr sz="1350" b="1">
                <a:solidFill>
                  <a:srgbClr val="10151F"/>
                </a:solidFill>
              </a:rPr>
              <a:t>160 new tokens</a:t>
            </a:r>
          </a:p>
        </p:txBody>
      </p:sp>
      <p:sp>
        <p:nvSpPr>
          <p:cNvPr id="10" name="badge-18-014s-recorded-latency">
            <a:extLst xmlns:a="http://schemas.openxmlformats.org/drawingml/2006/main">
              <a:ext uri="{FF2B5EF4-FFF2-40B4-BE49-F238E27FC236}">
                <a16:creationId xmlns:a16="http://schemas.microsoft.com/office/drawing/2014/main" id="{52AA89D7-AF6F-4C32-A217-6B23F4E0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37320"/>
            <a:ext cx="2120646" cy="5829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E2C5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4A933-2327-48C0-9FBA-131D0502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124950"/>
            <a:ext cx="1790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51F"/>
                </a:solidFill>
              </a:defRPr>
            </a:pPr>
            <a:r>
              <a:rPr sz="1350" b="1">
                <a:solidFill>
                  <a:srgbClr val="10151F"/>
                </a:solidFill>
              </a:rPr>
              <a:t>18.014s recorded latency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01CC6-F9D8-40A6-978F-555A4581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2423" y="2047875"/>
            <a:ext cx="9497378" cy="6191250"/>
          </a:xfrm>
          <a:prstGeom xmlns:a="http://schemas.openxmlformats.org/drawingml/2006/main" prst="roundRect">
            <a:avLst>
              <a:gd name="adj" fmla="val 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DD0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5d79ccae64bf6"/>
          <a:stretch xmlns:a="http://schemas.openxmlformats.org/drawingml/2006/main"/>
        </p:blipFill>
        <p:spPr>
          <a:xfrm xmlns:a="http://schemas.openxmlformats.org/drawingml/2006/main">
            <a:off x="8047673" y="2933117"/>
            <a:ext cx="9306878" cy="44207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3896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B9E2F5D-C32D-44FE-ADBA-BEFE63FB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5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5C3EC-5C94-4628-A653-C00BB423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400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E2C5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DDAFB-5FEA-4F51-9817-290E9138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23900"/>
            <a:ext cx="800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470"/>
                </a:solidFill>
              </a:defRPr>
            </a:pPr>
            <a:r>
              <a:rPr sz="1200" b="1">
                <a:solidFill>
                  <a:srgbClr val="5D6470"/>
                </a:solidFill>
              </a:rPr>
              <a:t>PRIZE 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42A84-5B8C-4C9D-8B7F-B556CD7E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23950"/>
            <a:ext cx="1217295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Safer handoffs, faster volunteers, clearer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94DC4-8529-45AD-B452-A4D5789A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114681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D6DEE9"/>
                </a:solidFill>
              </a:defRPr>
            </a:pPr>
            <a:r>
              <a:rPr sz="2250">
                <a:solidFill>
                  <a:srgbClr val="D6DEE9"/>
                </a:solidFill>
              </a:rPr>
              <a:t>This is deliberately narrow: one crisis workflow, visible safety constraints, playbook-backed checks, responder packets, household messages, audit traces, public evidence, and a clear path to stronger multilingual Gemma 4 generation.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F6262-762F-486F-948D-3245F315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41670"/>
            <a:ext cx="5334000" cy="200025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B2432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B2543-5CFA-4C2F-9CAB-157F7026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00800"/>
            <a:ext cx="4838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E2C5"/>
                </a:solidFill>
              </a:defRPr>
            </a:pPr>
            <a:r>
              <a:rPr sz="2400" b="1">
                <a:solidFill>
                  <a:srgbClr val="2DE2C5"/>
                </a:solidFill>
              </a:rPr>
              <a:t>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D11659-3A95-4356-920B-C69AD3AB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77050"/>
            <a:ext cx="483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</a:defRPr>
            </a:pPr>
            <a:r>
              <a:rPr sz="1425">
                <a:solidFill>
                  <a:srgbClr val="FFFFFF"/>
                </a:solidFill>
              </a:rPr>
              <a:t>huier5635-cmd.github.io/resilience-copilot-gemma4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D52AC-B29B-41F7-9B30-574FCDD0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41670"/>
            <a:ext cx="5334000" cy="200025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B2432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E08C31-CE9B-4629-B58D-FAB42DC5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400800"/>
            <a:ext cx="4838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C857"/>
                </a:solidFill>
              </a:defRPr>
            </a:pPr>
            <a:r>
              <a:rPr sz="2400" b="1">
                <a:solidFill>
                  <a:srgbClr val="FFC857"/>
                </a:solidFill>
              </a:rPr>
              <a:t>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2AC06-6B77-4719-AAB3-8951E4DC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877050"/>
            <a:ext cx="483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</a:defRPr>
            </a:pPr>
            <a:r>
              <a:rPr sz="1425">
                <a:solidFill>
                  <a:srgbClr val="FFFFFF"/>
                </a:solidFill>
              </a:rPr>
              <a:t>github.com/huier5635-cmd/resilience-copilot-gemma4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F60F2-6411-44C0-96EA-F5A12870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5741670"/>
            <a:ext cx="5334000" cy="200025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B2432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D22585-7EFA-4D3A-9274-7D62E75D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6381750"/>
            <a:ext cx="4838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5A66"/>
                </a:solidFill>
              </a:defRPr>
            </a:pPr>
            <a:r>
              <a:rPr sz="2400" b="1">
                <a:solidFill>
                  <a:srgbClr val="FF5A66"/>
                </a:solidFill>
              </a:rPr>
              <a:t>Video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834BF-DDE0-43F6-985B-0507AD09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6858000"/>
            <a:ext cx="4838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youtu.be/CmqCV8Ic9cY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932AB924-8754-4DD6-A632-D0C549C1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391650"/>
            <a:ext cx="1649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A808A"/>
                </a:solidFill>
              </a:defRPr>
            </a:pPr>
            <a:r>
              <a:rPr sz="1125">
                <a:solidFill>
                  <a:srgbClr val="7A808A"/>
                </a:solidFill>
              </a:rPr>
              <a:t>Submitted writeup: kaggle.com/competitions/gemma-4-good-hackathon/writeups/new-writeup-1778665719423</a:t>
            </a:r>
          </a:p>
        </p:txBody>
      </p:sp>
    </p:spTree>
    <p:extLst>
      <p:ext uri="{BB962C8B-B14F-4D97-AF65-F5344CB8AC3E}">
        <p14:creationId xmlns:p14="http://schemas.microsoft.com/office/powerpoint/2010/main" val="453972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2026-05-14T00:48:14.3210000Z</dcterms:created>
  <dcterms:modified xsi:type="dcterms:W3CDTF">2026-05-14T00:48:14.3220000Z</dcterms:modified>
</coreProperties>
</file>