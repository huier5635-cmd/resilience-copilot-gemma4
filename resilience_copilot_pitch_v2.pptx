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3476ca8f22a4a43" /><Relationship Type="http://schemas.openxmlformats.org/officeDocument/2006/relationships/extended-properties" Target="/docProps/app.xml" Id="Rb5c04f980c6c458c" /><Relationship Type="http://schemas.openxmlformats.org/officeDocument/2006/relationships/officeDocument" Target="/ppt/presentation.xml" Id="R21a0108570bc419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13a699b948c4c0b"/>
  </p:sldMasterIdLst>
  <p:notesMasterIdLst>
    <p:notesMasterId xmlns:r="http://schemas.openxmlformats.org/officeDocument/2006/relationships" r:id="R059d02a8074141b5"/>
  </p:notesMasterIdLst>
  <p:sldIdLst>
    <p:sldId xmlns:r="http://schemas.openxmlformats.org/officeDocument/2006/relationships" id="256" r:id="Rac03978c22ab41d6"/>
    <p:sldId xmlns:r="http://schemas.openxmlformats.org/officeDocument/2006/relationships" id="257" r:id="R5dec164cd17648a0"/>
    <p:sldId xmlns:r="http://schemas.openxmlformats.org/officeDocument/2006/relationships" id="258" r:id="R73fef34d4c6342b9"/>
    <p:sldId xmlns:r="http://schemas.openxmlformats.org/officeDocument/2006/relationships" id="259" r:id="Rec6d31c428814424"/>
    <p:sldId xmlns:r="http://schemas.openxmlformats.org/officeDocument/2006/relationships" id="260" r:id="Re8c6c5d06f564675"/>
    <p:sldId xmlns:r="http://schemas.openxmlformats.org/officeDocument/2006/relationships" id="261" r:id="R6622a9eb7b084591"/>
    <p:sldId xmlns:r="http://schemas.openxmlformats.org/officeDocument/2006/relationships" id="262" r:id="Reb17b779b8f441c8"/>
    <p:sldId xmlns:r="http://schemas.openxmlformats.org/officeDocument/2006/relationships" id="263" r:id="Rbed4335f502c48fd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3a699b948c4c0b" /><Relationship Type="http://schemas.openxmlformats.org/officeDocument/2006/relationships/theme" Target="/ppt/theme/theme1.xml" Id="R95dd3619c9014b95" /><Relationship Type="http://schemas.openxmlformats.org/officeDocument/2006/relationships/notesMaster" Target="/ppt/notesMasters/notesMaster1.xml" Id="R059d02a8074141b5" /><Relationship Type="http://schemas.openxmlformats.org/officeDocument/2006/relationships/presProps" Target="/ppt/presProps.xml" Id="R2e6478e09ae54367" /><Relationship Type="http://schemas.openxmlformats.org/officeDocument/2006/relationships/viewProps" Target="/ppt/viewProps.xml" Id="R94ab4c0f54ef4549" /><Relationship Type="http://schemas.openxmlformats.org/officeDocument/2006/relationships/tableStyles" Target="/ppt/tableStyles.xml" Id="Rbc88275847264a25" /><Relationship Type="http://schemas.openxmlformats.org/officeDocument/2006/relationships/slide" Target="/ppt/slides/slide1.xml" Id="Rac03978c22ab41d6" /><Relationship Type="http://schemas.openxmlformats.org/officeDocument/2006/relationships/slide" Target="/ppt/slides/slide2.xml" Id="R5dec164cd17648a0" /><Relationship Type="http://schemas.openxmlformats.org/officeDocument/2006/relationships/slide" Target="/ppt/slides/slide3.xml" Id="R73fef34d4c6342b9" /><Relationship Type="http://schemas.openxmlformats.org/officeDocument/2006/relationships/slide" Target="/ppt/slides/slide4.xml" Id="Rec6d31c428814424" /><Relationship Type="http://schemas.openxmlformats.org/officeDocument/2006/relationships/slide" Target="/ppt/slides/slide5.xml" Id="Re8c6c5d06f564675" /><Relationship Type="http://schemas.openxmlformats.org/officeDocument/2006/relationships/slide" Target="/ppt/slides/slide6.xml" Id="R6622a9eb7b084591" /><Relationship Type="http://schemas.openxmlformats.org/officeDocument/2006/relationships/slide" Target="/ppt/slides/slide7.xml" Id="Reb17b779b8f441c8" /><Relationship Type="http://schemas.openxmlformats.org/officeDocument/2006/relationships/slide" Target="/ppt/slides/slide8.xml" Id="Rbed4335f502c48f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dc04e99d82ba41d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2363f92b92d40f9" /><Relationship Type="http://schemas.openxmlformats.org/officeDocument/2006/relationships/notesMaster" Target="/ppt/notesMasters/notesMaster1.xml" Id="Rb1e6c51a583d4e7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ddc67da2359485e" /><Relationship Type="http://schemas.openxmlformats.org/officeDocument/2006/relationships/notesMaster" Target="/ppt/notesMasters/notesMaster1.xml" Id="R1c80c1dbb4514c7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2f040f963fe40bc" /><Relationship Type="http://schemas.openxmlformats.org/officeDocument/2006/relationships/notesMaster" Target="/ppt/notesMasters/notesMaster1.xml" Id="R78cfd2f647554f3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cfb968766e743e6" /><Relationship Type="http://schemas.openxmlformats.org/officeDocument/2006/relationships/notesMaster" Target="/ppt/notesMasters/notesMaster1.xml" Id="Rb187b5f1950c49d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9a03078c6f543bb" /><Relationship Type="http://schemas.openxmlformats.org/officeDocument/2006/relationships/notesMaster" Target="/ppt/notesMasters/notesMaster1.xml" Id="Rd43b19a0e412471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56afd9271c2405e" /><Relationship Type="http://schemas.openxmlformats.org/officeDocument/2006/relationships/notesMaster" Target="/ppt/notesMasters/notesMaster1.xml" Id="Rcbfc3319e5634ca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b5b536ef16c4519" /><Relationship Type="http://schemas.openxmlformats.org/officeDocument/2006/relationships/notesMaster" Target="/ppt/notesMasters/notesMaster1.xml" Id="Rf590730d2f4347b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906c937c8a747fc" /><Relationship Type="http://schemas.openxmlformats.org/officeDocument/2006/relationships/notesMaster" Target="/ppt/notesMasters/notesMaster1.xml" Id="R02ea07d814154a1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37788f5fc94f12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69eb97f0039b45ef" /><Relationship Type="http://schemas.openxmlformats.org/officeDocument/2006/relationships/slideLayout" Target="/ppt/slideLayouts/slideLayout2.xml" Id="R4fb301c150c04e2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fb301c150c04e2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561ff1751194bc8" /><Relationship Type="http://schemas.openxmlformats.org/officeDocument/2006/relationships/image" Target="/ppt/media/image.png" Id="Rdf53345680eb4dd6" /><Relationship Type="http://schemas.openxmlformats.org/officeDocument/2006/relationships/notesSlide" Target="/ppt/notesSlides/notesSlide1.xml" Id="R96fa3bdeb3d4416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4e4ea68c6364266" /><Relationship Type="http://schemas.openxmlformats.org/officeDocument/2006/relationships/notesSlide" Target="/ppt/notesSlides/notesSlide2.xml" Id="R35da4c1385894b7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cfb407f375941f1" /><Relationship Type="http://schemas.openxmlformats.org/officeDocument/2006/relationships/notesSlide" Target="/ppt/notesSlides/notesSlide3.xml" Id="R59847ad6cea3425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181203127214f40" /><Relationship Type="http://schemas.openxmlformats.org/officeDocument/2006/relationships/image" Target="/ppt/media/image2.png" Id="Rb1944854de3a4929" /><Relationship Type="http://schemas.openxmlformats.org/officeDocument/2006/relationships/notesSlide" Target="/ppt/notesSlides/notesSlide4.xml" Id="R0a64b774c678456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10f719d1aca4df0" /><Relationship Type="http://schemas.openxmlformats.org/officeDocument/2006/relationships/notesSlide" Target="/ppt/notesSlides/notesSlide5.xml" Id="R26c4b4ee193b4e2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87049e626f1424f" /><Relationship Type="http://schemas.openxmlformats.org/officeDocument/2006/relationships/chart" Target="/ppt/slides/charts/chart1.xml" Id="R3f1b886a38ee45b4" /><Relationship Type="http://schemas.openxmlformats.org/officeDocument/2006/relationships/notesSlide" Target="/ppt/notesSlides/notesSlide6.xml" Id="R231fe273e37f494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af72d35b7634f5b" /><Relationship Type="http://schemas.openxmlformats.org/officeDocument/2006/relationships/image" Target="/ppt/media/image3.png" Id="R195b01e61e6f4e2f" /><Relationship Type="http://schemas.openxmlformats.org/officeDocument/2006/relationships/notesSlide" Target="/ppt/notesSlides/notesSlide7.xml" Id="Re8cf5b5bd6af4b8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edf24da07534c87" /><Relationship Type="http://schemas.openxmlformats.org/officeDocument/2006/relationships/notesSlide" Target="/ppt/notesSlides/notesSlide8.xml" Id="R8d9ea9d5fd634f4b" /></Relationships>
</file>

<file path=ppt/slides/charts/chart1.xml><?xml version="1.0" encoding="utf-8"?>
<c:chartSpace xmlns:c="http://schemas.openxmlformats.org/drawingml/2006/chart">
  <c:lang val="en-US"/>
  <c:roundedCorners val="0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/>
              <a:t>Passes by validation split</a:t>
            </a:r>
          </a:p>
        </c:rich>
      </c:tx>
      <c:overlay val="0"/>
    </c:title>
    <c:autoTitleDeleted val="0"/>
    <c:plotArea>
      <c:layout/>
      <c:barChart>
        <c:barDir val="col"/>
        <c:varyColors val="0"/>
        <c:ser>
          <c:idx val="0"/>
          <c:order val="0"/>
          <c:tx>
            <c:v>Passed</c:v>
          </c:tx>
          <c:cat>
            <c:strLit>
              <c:ptCount val="3"/>
              <c:pt idx="0">
                <c:v>Demo</c:v>
              </c:pt>
              <c:pt idx="1">
                <c:v>Holdout</c:v>
              </c:pt>
              <c:pt idx="2">
                <c:v>Stress</c:v>
              </c:pt>
            </c:strLit>
          </c:cat>
          <c:val>
            <c:numLit>
              <c:formatCode/>
              <c:ptCount val="3"/>
              <c:pt idx="0">
                <c:v>2</c:v>
              </c:pt>
              <c:pt idx="1">
                <c:v>2</c:v>
              </c:pt>
              <c:pt idx="2">
                <c:v>6</c:v>
              </c:pt>
            </c:numLit>
          </c:val>
        </c:ser>
        <c:ser>
          <c:idx val="1"/>
          <c:order val="1"/>
          <c:tx>
            <c:v>Required</c:v>
          </c:tx>
          <c:cat>
            <c:strLit>
              <c:ptCount val="3"/>
              <c:pt idx="0">
                <c:v>Demo</c:v>
              </c:pt>
              <c:pt idx="1">
                <c:v>Holdout</c:v>
              </c:pt>
              <c:pt idx="2">
                <c:v>Stress</c:v>
              </c:pt>
            </c:strLit>
          </c:cat>
          <c:val>
            <c:numLit>
              <c:formatCode/>
              <c:ptCount val="3"/>
              <c:pt idx="0">
                <c:v>2</c:v>
              </c:pt>
              <c:pt idx="1">
                <c:v>2</c:v>
              </c:pt>
              <c:pt idx="2">
                <c:v>6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legend>
      <c:legendPos val="b"/>
      <c:overlay val="0"/>
    </c:legend>
    <c:plotVisOnly val="1"/>
  </c:chart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BDF78D5A-B8D7-41A8-87E8-1BD9893EC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51F"/>
          </a:solidFill>
        </p:spPr>
      </p:sp>
      <p:sp>
        <p:nvSpPr>
          <p:cNvPr id="2" name="badge-gemma-4-good">
            <a:extLst xmlns:a="http://schemas.openxmlformats.org/drawingml/2006/main">
              <a:ext uri="{FF2B5EF4-FFF2-40B4-BE49-F238E27FC236}">
                <a16:creationId xmlns:a16="http://schemas.microsoft.com/office/drawing/2014/main" id="{417CD06F-871B-48F4-884C-403FB37AA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156210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E2C5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E929E3-4EDB-4521-8389-2E9823B64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181350"/>
            <a:ext cx="1219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151F"/>
                </a:solidFill>
              </a:defRPr>
            </a:pPr>
            <a:r>
              <a:rPr sz="1350" b="1">
                <a:solidFill>
                  <a:srgbClr val="10151F"/>
                </a:solidFill>
              </a:rPr>
              <a:t>Gemma 4 Good</a:t>
            </a:r>
          </a:p>
        </p:txBody>
      </p:sp>
      <p:sp>
        <p:nvSpPr>
          <p:cNvPr id="4" name="badge-safety-first-crisis-ai">
            <a:extLst xmlns:a="http://schemas.openxmlformats.org/drawingml/2006/main">
              <a:ext uri="{FF2B5EF4-FFF2-40B4-BE49-F238E27FC236}">
                <a16:creationId xmlns:a16="http://schemas.microsoft.com/office/drawing/2014/main" id="{8F20C630-27FF-4CB8-B248-E47A04781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086100"/>
            <a:ext cx="228600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5A66"/>
          </a:solidFill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4CEE7F-DEEF-4E6D-8391-3422A2C27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181350"/>
            <a:ext cx="1924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Safety-first crisis AI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C653AE-0A84-4EC1-8862-36E874A25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95700"/>
            <a:ext cx="8477250" cy="2571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400" b="1">
                <a:solidFill>
                  <a:srgbClr val="FFFFFF"/>
                </a:solidFill>
              </a:defRPr>
            </a:pPr>
            <a:r>
              <a:rPr sz="8400" b="1">
                <a:solidFill>
                  <a:srgbClr val="FFFFFF"/>
                </a:solidFill>
              </a:rPr>
              <a:t>Resilience</a:t>
            </a:r>
          </a:p>
          <a:p xmlns:a="http://schemas.openxmlformats.org/drawingml/2006/main">
            <a:pPr>
              <a:defRPr sz="8400" b="1">
                <a:solidFill>
                  <a:srgbClr val="FFFFFF"/>
                </a:solidFill>
              </a:defRPr>
            </a:pPr>
            <a:r>
              <a:rPr sz="8400" b="1">
                <a:solidFill>
                  <a:srgbClr val="FFFFFF"/>
                </a:solidFill>
              </a:rPr>
              <a:t>Copilot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3D1095-6438-47C8-831D-AC86E60A3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496050"/>
            <a:ext cx="69723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DDE5EE"/>
                </a:solidFill>
              </a:defRPr>
            </a:pPr>
            <a:r>
              <a:rPr sz="2325">
                <a:solidFill>
                  <a:srgbClr val="DDE5EE"/>
                </a:solidFill>
              </a:rPr>
              <a:t>A field-ready assistant that turns messy disaster notes into official checks and safer responder handoffs.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16D7A4-317B-4CAE-B3CE-CF3947461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6460" y="666750"/>
            <a:ext cx="7673340" cy="723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857"/>
          </a:solidFill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7D962A-41E6-4A66-AB66-0118C4F5C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895350"/>
            <a:ext cx="7162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151F"/>
                </a:solidFill>
              </a:defRPr>
            </a:pPr>
            <a:r>
              <a:rPr sz="1650" b="1">
                <a:solidFill>
                  <a:srgbClr val="10151F"/>
                </a:solidFill>
              </a:rPr>
              <a:t>rough note -&gt; risk sidecar -&gt; official checks -&gt; Gemma 4 -&gt; handoff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801D48-15AD-4B4C-8718-A169C9221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6460" y="1562100"/>
            <a:ext cx="7673340" cy="7810500"/>
          </a:xfrm>
          <a:prstGeom xmlns:a="http://schemas.openxmlformats.org/drawingml/2006/main" prst="roundRect">
            <a:avLst>
              <a:gd name="adj" fmla="val 4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DD0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53345680eb4dd6"/>
          <a:stretch xmlns:a="http://schemas.openxmlformats.org/drawingml/2006/main"/>
        </p:blipFill>
        <p:spPr>
          <a:xfrm xmlns:a="http://schemas.openxmlformats.org/drawingml/2006/main">
            <a:off x="9871710" y="2869142"/>
            <a:ext cx="7482840" cy="5196417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321436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038E78A9-E8AC-4CE5-A8DF-6CEC38057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2E8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4CBA58-580C-4A8B-BD78-AE90F64CB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38200"/>
            <a:ext cx="4000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66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5AC760-0DB4-4B8E-AB86-F1F4419DB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85800"/>
            <a:ext cx="9144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D6470"/>
                </a:solidFill>
              </a:defRPr>
            </a:pPr>
            <a:r>
              <a:rPr sz="1200" b="1">
                <a:solidFill>
                  <a:srgbClr val="5D6470"/>
                </a:solidFill>
              </a:rPr>
              <a:t>THE PROBLEM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7F4571-3D2E-45B5-8E33-9D1819E3D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76350"/>
            <a:ext cx="7372350" cy="2476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400" b="1">
                <a:solidFill>
                  <a:srgbClr val="10151F"/>
                </a:solidFill>
              </a:defRPr>
            </a:pPr>
            <a:r>
              <a:rPr sz="5400" b="1">
                <a:solidFill>
                  <a:srgbClr val="10151F"/>
                </a:solidFill>
              </a:rPr>
              <a:t>In a crisis, a confident wrong answer is a liability.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AD25A9-CB11-4076-B423-3654407C5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81450"/>
            <a:ext cx="57150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5D6470"/>
                </a:solidFill>
              </a:defRPr>
            </a:pPr>
            <a:r>
              <a:rPr sz="2175">
                <a:solidFill>
                  <a:srgbClr val="5D6470"/>
                </a:solidFill>
              </a:rPr>
              <a:t>Volunteers need structured triage notes, not fluent improvisation under pressure.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80390FF7-8041-4F21-86C6-9BD6EC99D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9429750"/>
            <a:ext cx="73723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7A808A"/>
                </a:solidFill>
              </a:defRPr>
            </a:pPr>
            <a:r>
              <a:rPr sz="1125">
                <a:solidFill>
                  <a:srgbClr val="7A808A"/>
                </a:solidFill>
              </a:rPr>
              <a:t>Resilience Copilot | Gemma 4 Good Hackathon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C5ECC9-A418-4316-BEC4-8B16AE222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9096" y="2667000"/>
            <a:ext cx="8661654" cy="3067050"/>
          </a:xfrm>
          <a:prstGeom xmlns:a="http://schemas.openxmlformats.org/drawingml/2006/main" prst="roundRect">
            <a:avLst>
              <a:gd name="adj" fmla="val 12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D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2A1FEA-B1AC-4907-AC49-10DD0C30F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2004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A66"/>
          </a:solidFill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A6B967-C33E-4512-B492-EF02521A2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067050"/>
            <a:ext cx="76771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7B828C"/>
                </a:solidFill>
              </a:defRPr>
            </a:pPr>
            <a:r>
              <a:rPr sz="1200">
                <a:solidFill>
                  <a:srgbClr val="7B828C"/>
                </a:solidFill>
              </a:rPr>
              <a:t>Case note says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4EE216-DA27-48F7-825D-EAEB29B25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238500"/>
            <a:ext cx="76771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0151F"/>
                </a:solidFill>
              </a:defRPr>
            </a:pPr>
            <a:r>
              <a:rPr sz="1725" b="1">
                <a:solidFill>
                  <a:srgbClr val="10151F"/>
                </a:solidFill>
              </a:rPr>
              <a:t>older adult + oxygen + power outage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3B474A-B6C4-4D8A-BA3A-CD576FBF4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1148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857"/>
          </a:solidFill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507736-411E-4B59-93DB-F2301AE39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981450"/>
            <a:ext cx="76771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7B828C"/>
                </a:solidFill>
              </a:defRPr>
            </a:pPr>
            <a:r>
              <a:rPr sz="1200">
                <a:solidFill>
                  <a:srgbClr val="7B828C"/>
                </a:solidFill>
              </a:rPr>
              <a:t>Hidden risk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42C0AF-F76E-44B4-AAE7-A4CAFF60B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152900"/>
            <a:ext cx="76771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0151F"/>
                </a:solidFill>
              </a:defRPr>
            </a:pPr>
            <a:r>
              <a:rPr sz="1725" b="1">
                <a:solidFill>
                  <a:srgbClr val="10151F"/>
                </a:solidFill>
              </a:rPr>
              <a:t>powered medical device battery may fail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B378-3AC4-4445-9895-63166D1EC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50292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A5FF"/>
          </a:solidFill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44F09C-0477-4000-BC32-11D04DF5C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895850"/>
            <a:ext cx="76771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7B828C"/>
                </a:solidFill>
              </a:defRPr>
            </a:pPr>
            <a:r>
              <a:rPr sz="1200">
                <a:solidFill>
                  <a:srgbClr val="7B828C"/>
                </a:solidFill>
              </a:rPr>
              <a:t>Unsafe chatbot failure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4BF60A-EAEC-4903-A665-F5BE10A2A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5067300"/>
            <a:ext cx="76771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0151F"/>
                </a:solidFill>
              </a:defRPr>
            </a:pPr>
            <a:r>
              <a:rPr sz="1725" b="1">
                <a:solidFill>
                  <a:srgbClr val="10151F"/>
                </a:solidFill>
              </a:rPr>
              <a:t>casual reassurance or invented local capacity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4BE4DC-B8E5-4BFF-B7E8-3B3D84ED9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6324600"/>
            <a:ext cx="27813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FF5A66"/>
                </a:solidFill>
              </a:defRPr>
            </a:pPr>
            <a:r>
              <a:rPr sz="4800" b="1">
                <a:solidFill>
                  <a:srgbClr val="FF5A66"/>
                </a:solidFill>
              </a:rPr>
              <a:t>8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4C72D4-E929-43E9-AB8D-C5DF772EC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048500"/>
            <a:ext cx="2781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0151F"/>
                </a:solidFill>
              </a:defRPr>
            </a:pPr>
            <a:r>
              <a:rPr sz="1575" b="1">
                <a:solidFill>
                  <a:srgbClr val="10151F"/>
                </a:solidFill>
              </a:rPr>
              <a:t>response sections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615F11-5501-40BA-8FCF-8AA6B8BF9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324600"/>
            <a:ext cx="27813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4EA5FF"/>
                </a:solidFill>
              </a:defRPr>
            </a:pPr>
            <a:r>
              <a:rPr sz="4800" b="1">
                <a:solidFill>
                  <a:srgbClr val="4EA5FF"/>
                </a:solidFill>
              </a:rPr>
              <a:t>10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C4767B-9E2E-43C9-BB27-340C624BB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7048500"/>
            <a:ext cx="2781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0151F"/>
                </a:solidFill>
              </a:defRPr>
            </a:pPr>
            <a:r>
              <a:rPr sz="1575" b="1">
                <a:solidFill>
                  <a:srgbClr val="10151F"/>
                </a:solidFill>
              </a:rPr>
              <a:t>stress/demo/holdout checks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A7C28C-2DA4-4230-9282-95A1A4C87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49450" y="6324600"/>
            <a:ext cx="27813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72D572"/>
                </a:solidFill>
              </a:defRPr>
            </a:pPr>
            <a:r>
              <a:rPr sz="4800" b="1">
                <a:solidFill>
                  <a:srgbClr val="72D572"/>
                </a:solidFill>
              </a:rPr>
              <a:t>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FF5AA0-12C0-4B84-ABA7-01CEBE08D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49450" y="7048500"/>
            <a:ext cx="2781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0151F"/>
                </a:solidFill>
              </a:defRPr>
            </a:pPr>
            <a:r>
              <a:rPr sz="1575" b="1">
                <a:solidFill>
                  <a:srgbClr val="10151F"/>
                </a:solidFill>
              </a:rPr>
              <a:t>diagnosis claims</a:t>
            </a:r>
          </a:p>
        </p:txBody>
      </p:sp>
    </p:spTree>
    <p:extLst>
      <p:ext uri="{BB962C8B-B14F-4D97-AF65-F5344CB8AC3E}">
        <p14:creationId xmlns:p14="http://schemas.microsoft.com/office/powerpoint/2010/main" val="23105030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2C76C84A-2DD7-4CF7-838A-B85438FAE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51F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15FF88-C1E8-42E2-BF83-8C6E8E760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00100"/>
            <a:ext cx="4000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E2C5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5D51AA-5DF9-4A99-A1B3-AAFA6EA01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47700"/>
            <a:ext cx="13525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D6470"/>
                </a:solidFill>
              </a:defRPr>
            </a:pPr>
            <a:r>
              <a:rPr sz="1200" b="1">
                <a:solidFill>
                  <a:srgbClr val="5D6470"/>
                </a:solidFill>
              </a:rPr>
              <a:t>PRODUCT MECHANIC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456776-7A1D-47D1-AECC-588BACC5E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123950"/>
            <a:ext cx="124968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FFFFFF"/>
                </a:solidFill>
              </a:defRPr>
            </a:pPr>
            <a:r>
              <a:rPr sz="4650" b="1">
                <a:solidFill>
                  <a:srgbClr val="FFFFFF"/>
                </a:solidFill>
              </a:rPr>
              <a:t>The sidecar makes the model useful without hiding the safety rails.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4CAEE6-5DC9-431F-82AF-3E7D428C2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48150"/>
            <a:ext cx="3321564" cy="4000500"/>
          </a:xfrm>
          <a:prstGeom xmlns:a="http://schemas.openxmlformats.org/drawingml/2006/main" prst="roundRect">
            <a:avLst>
              <a:gd name="adj" fmla="val 1147"/>
            </a:avLst>
          </a:prstGeom>
          <a:solidFill xmlns:a="http://schemas.openxmlformats.org/drawingml/2006/main">
            <a:srgbClr val="1B2432"/>
          </a:solidFill>
        </p:spPr>
      </p:sp>
      <p:sp>
        <p:nvSpPr>
          <p:cNvPr id="6" name="badge-1">
            <a:extLst xmlns:a="http://schemas.openxmlformats.org/drawingml/2006/main">
              <a:ext uri="{FF2B5EF4-FFF2-40B4-BE49-F238E27FC236}">
                <a16:creationId xmlns:a16="http://schemas.microsoft.com/office/drawing/2014/main" id="{CB3C7322-A929-4D82-8CA4-F1DBB4E04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293995"/>
            <a:ext cx="429768" cy="37719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5A66"/>
          </a:solidFill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663E33-B132-41A5-8508-E02988C3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391150"/>
            <a:ext cx="76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3C7ECF-F464-46D3-837A-627C61B2E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848350"/>
            <a:ext cx="27432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Messy intake note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5F5A4B-2286-4E1B-877C-3F8C3D33C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381750"/>
            <a:ext cx="27432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CBD5E1"/>
                </a:solidFill>
              </a:defRPr>
            </a:pPr>
            <a:r>
              <a:rPr sz="1800">
                <a:solidFill>
                  <a:srgbClr val="CBD5E1"/>
                </a:solidFill>
              </a:rPr>
              <a:t>Flood, cold children, medication, pet shelter, transport, language needs.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083E9E-535D-4AFC-9C25-3AC63096A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981700"/>
            <a:ext cx="4953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C857"/>
                </a:solidFill>
              </a:defRPr>
            </a:pPr>
            <a:r>
              <a:rPr sz="3450" b="1">
                <a:solidFill>
                  <a:srgbClr val="FFC857"/>
                </a:solidFill>
              </a:rPr>
              <a:t>-&gt;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EFBAA2-E2E6-4913-BCB6-45E7B9BBC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8914" y="4248150"/>
            <a:ext cx="3506095" cy="4000500"/>
          </a:xfrm>
          <a:prstGeom xmlns:a="http://schemas.openxmlformats.org/drawingml/2006/main" prst="roundRect">
            <a:avLst>
              <a:gd name="adj" fmla="val 1087"/>
            </a:avLst>
          </a:prstGeom>
          <a:solidFill xmlns:a="http://schemas.openxmlformats.org/drawingml/2006/main">
            <a:srgbClr val="172F35"/>
          </a:solidFill>
        </p:spPr>
      </p:sp>
      <p:sp>
        <p:nvSpPr>
          <p:cNvPr id="12" name="badge-2">
            <a:extLst xmlns:a="http://schemas.openxmlformats.org/drawingml/2006/main">
              <a:ext uri="{FF2B5EF4-FFF2-40B4-BE49-F238E27FC236}">
                <a16:creationId xmlns:a16="http://schemas.microsoft.com/office/drawing/2014/main" id="{1044BE57-7110-4FAD-955A-FC3F5D0FC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664" y="5156835"/>
            <a:ext cx="429768" cy="37719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E2C5"/>
          </a:solidFill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E8A83F-2170-41C7-A4E5-957F3C4BD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5257800"/>
            <a:ext cx="76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151F"/>
                </a:solidFill>
              </a:defRPr>
            </a:pPr>
            <a:r>
              <a:rPr sz="1350" b="1">
                <a:solidFill>
                  <a:srgbClr val="10151F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9F1585-3391-4302-AC1A-1DD9C4435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5715000"/>
            <a:ext cx="29337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Risk sidecar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F4D847-1BE7-4BB7-B9F1-85550EC03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6248400"/>
            <a:ext cx="293370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C6F7EE"/>
                </a:solidFill>
              </a:defRPr>
            </a:pPr>
            <a:r>
              <a:rPr sz="1800">
                <a:solidFill>
                  <a:srgbClr val="C6F7EE"/>
                </a:solidFill>
              </a:rPr>
              <a:t>Flags insulin, oxygen, pregnancy, floodwater, rumors, language access, and official resource checks.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4F2B76-4B49-4DB4-A5AF-1FED74BEA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5981700"/>
            <a:ext cx="4953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C857"/>
                </a:solidFill>
              </a:defRPr>
            </a:pPr>
            <a:r>
              <a:rPr sz="3450" b="1">
                <a:solidFill>
                  <a:srgbClr val="FFC857"/>
                </a:solidFill>
              </a:rPr>
              <a:t>-&gt;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9F3E7B-E8CB-4586-BCAB-657717BC8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3209" y="4248150"/>
            <a:ext cx="3764439" cy="4000500"/>
          </a:xfrm>
          <a:prstGeom xmlns:a="http://schemas.openxmlformats.org/drawingml/2006/main" prst="roundRect">
            <a:avLst>
              <a:gd name="adj" fmla="val 1012"/>
            </a:avLst>
          </a:prstGeom>
          <a:solidFill xmlns:a="http://schemas.openxmlformats.org/drawingml/2006/main">
            <a:srgbClr val="332740"/>
          </a:solidFill>
        </p:spPr>
      </p:sp>
      <p:sp>
        <p:nvSpPr>
          <p:cNvPr id="18" name="badge-3">
            <a:extLst xmlns:a="http://schemas.openxmlformats.org/drawingml/2006/main">
              <a:ext uri="{FF2B5EF4-FFF2-40B4-BE49-F238E27FC236}">
                <a16:creationId xmlns:a16="http://schemas.microsoft.com/office/drawing/2014/main" id="{D910E94F-5EA7-4406-B531-1A53488A4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8959" y="5293995"/>
            <a:ext cx="429768" cy="37719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DA7FF"/>
          </a:solidFill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0A88E2-6A3E-43F2-AB89-1A389F286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5391150"/>
            <a:ext cx="76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151F"/>
                </a:solidFill>
              </a:defRPr>
            </a:pPr>
            <a:r>
              <a:rPr sz="1350" b="1">
                <a:solidFill>
                  <a:srgbClr val="10151F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BF373C-8722-431B-B8BB-46EB2EEE6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5848350"/>
            <a:ext cx="32004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Gemma 4 answer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79773A-CA91-408C-AA9B-F879C6AF8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6381750"/>
            <a:ext cx="32004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6DEFF"/>
                </a:solidFill>
              </a:defRPr>
            </a:pPr>
            <a:r>
              <a:rPr sz="1800">
                <a:solidFill>
                  <a:srgbClr val="E6DEFF"/>
                </a:solidFill>
              </a:rPr>
              <a:t>Structured plan, clarifying questions, and visible safety boundary.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B3CEBE-3524-460A-B180-17BF4BB24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0" y="5981700"/>
            <a:ext cx="4953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C857"/>
                </a:solidFill>
              </a:defRPr>
            </a:pPr>
            <a:r>
              <a:rPr sz="3450" b="1">
                <a:solidFill>
                  <a:srgbClr val="FFC857"/>
                </a:solidFill>
              </a:rPr>
              <a:t>-&gt;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2729A0-03B9-404D-A4DA-213DE33CA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25848" y="4248150"/>
            <a:ext cx="3543002" cy="4000500"/>
          </a:xfrm>
          <a:prstGeom xmlns:a="http://schemas.openxmlformats.org/drawingml/2006/main" prst="roundRect">
            <a:avLst>
              <a:gd name="adj" fmla="val 1075"/>
            </a:avLst>
          </a:prstGeom>
          <a:solidFill xmlns:a="http://schemas.openxmlformats.org/drawingml/2006/main">
            <a:srgbClr val="203017"/>
          </a:solidFill>
        </p:spPr>
      </p:sp>
      <p:sp>
        <p:nvSpPr>
          <p:cNvPr id="24" name="badge-4">
            <a:extLst xmlns:a="http://schemas.openxmlformats.org/drawingml/2006/main">
              <a:ext uri="{FF2B5EF4-FFF2-40B4-BE49-F238E27FC236}">
                <a16:creationId xmlns:a16="http://schemas.microsoft.com/office/drawing/2014/main" id="{CBCF7407-3E78-42B5-8F23-9D9E41660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11598" y="5293995"/>
            <a:ext cx="429768" cy="37719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2D572"/>
          </a:solidFill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14F745A-D7A6-46BC-8FBE-DD2EAD494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0" y="5391150"/>
            <a:ext cx="76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151F"/>
                </a:solidFill>
              </a:defRPr>
            </a:pPr>
            <a:r>
              <a:rPr sz="1350" b="1">
                <a:solidFill>
                  <a:srgbClr val="10151F"/>
                </a:solidFill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452B45F-41E2-4975-9F1D-11D112DDD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11300" y="5848350"/>
            <a:ext cx="29718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Responder handoff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FE7D77-C796-4B0A-B5CA-D689D2B39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11300" y="6381750"/>
            <a:ext cx="29718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D9F9D7"/>
                </a:solidFill>
              </a:defRPr>
            </a:pPr>
            <a:r>
              <a:rPr sz="1800">
                <a:solidFill>
                  <a:srgbClr val="D9F9D7"/>
                </a:solidFill>
              </a:rPr>
              <a:t>A safer next-action note for human teams, not a replacement for them.</a:t>
            </a:r>
          </a:p>
        </p:txBody>
      </p:sp>
    </p:spTree>
    <p:extLst>
      <p:ext uri="{BB962C8B-B14F-4D97-AF65-F5344CB8AC3E}">
        <p14:creationId xmlns:p14="http://schemas.microsoft.com/office/powerpoint/2010/main" val="75315249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3259C9FA-6FD1-4113-A3D0-ABD17BE3F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2E8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D24DD8-C001-4E0E-AE4B-2E33A1105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38200"/>
            <a:ext cx="4000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A5FF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2EF349-3166-411D-B8BD-83D54A1CD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66750"/>
            <a:ext cx="7048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D6470"/>
                </a:solidFill>
              </a:defRPr>
            </a:pPr>
            <a:r>
              <a:rPr sz="1200" b="1">
                <a:solidFill>
                  <a:srgbClr val="5D6470"/>
                </a:solidFill>
              </a:rPr>
              <a:t>LIVE DEMO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76CFFC-447D-4900-A741-DCA4A0DF3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6248400" cy="2343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10151F"/>
                </a:solidFill>
              </a:defRPr>
            </a:pPr>
            <a:r>
              <a:rPr sz="5100" b="1">
                <a:solidFill>
                  <a:srgbClr val="10151F"/>
                </a:solidFill>
              </a:rPr>
              <a:t>Judges can poke the safety behavior directly.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59ACDB-E004-465A-BD1E-DB55349E4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52850"/>
            <a:ext cx="641985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5D6470"/>
                </a:solidFill>
              </a:defRPr>
            </a:pPr>
            <a:r>
              <a:rPr sz="2025">
                <a:solidFill>
                  <a:srgbClr val="5D6470"/>
                </a:solidFill>
              </a:rPr>
              <a:t>The public demo exposes the same eight-section output used in local validation, including official resource checks, language support, and handoff.</a:t>
            </a:r>
          </a:p>
        </p:txBody>
      </p:sp>
      <p:sp>
        <p:nvSpPr>
          <p:cNvPr id="6" name="badge-public-demo">
            <a:extLst xmlns:a="http://schemas.openxmlformats.org/drawingml/2006/main">
              <a:ext uri="{FF2B5EF4-FFF2-40B4-BE49-F238E27FC236}">
                <a16:creationId xmlns:a16="http://schemas.microsoft.com/office/drawing/2014/main" id="{3238E0BD-8E33-410F-865A-FD22D9DFE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61560"/>
            <a:ext cx="1223581" cy="5829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EA5FF"/>
          </a:solidFill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F47154-8133-4A4A-BB50-5F1AAE190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933950"/>
            <a:ext cx="8763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public demo</a:t>
            </a:r>
          </a:p>
        </p:txBody>
      </p:sp>
      <p:sp>
        <p:nvSpPr>
          <p:cNvPr id="8" name="badge-public-code">
            <a:extLst xmlns:a="http://schemas.openxmlformats.org/drawingml/2006/main">
              <a:ext uri="{FF2B5EF4-FFF2-40B4-BE49-F238E27FC236}">
                <a16:creationId xmlns:a16="http://schemas.microsoft.com/office/drawing/2014/main" id="{E7278EEA-CECA-4317-A784-3321B027E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5131" y="4861560"/>
            <a:ext cx="1155001" cy="5829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E2C5"/>
          </a:solidFill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F6421D-293D-411C-9A65-FD9A2CCB7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933950"/>
            <a:ext cx="800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151F"/>
                </a:solidFill>
              </a:defRPr>
            </a:pPr>
            <a:r>
              <a:rPr sz="1350" b="1">
                <a:solidFill>
                  <a:srgbClr val="10151F"/>
                </a:solidFill>
              </a:rPr>
              <a:t>public code</a:t>
            </a:r>
          </a:p>
        </p:txBody>
      </p:sp>
      <p:sp>
        <p:nvSpPr>
          <p:cNvPr id="10" name="badge-video-pitch">
            <a:extLst xmlns:a="http://schemas.openxmlformats.org/drawingml/2006/main">
              <a:ext uri="{FF2B5EF4-FFF2-40B4-BE49-F238E27FC236}">
                <a16:creationId xmlns:a16="http://schemas.microsoft.com/office/drawing/2014/main" id="{3D308539-A05E-4EA6-9961-221D82E4D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4433" y="4861560"/>
            <a:ext cx="1130522" cy="5829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857"/>
          </a:solidFill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7198E8-0820-48BE-94DB-A8D6665AB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933950"/>
            <a:ext cx="800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151F"/>
                </a:solidFill>
              </a:defRPr>
            </a:pPr>
            <a:r>
              <a:rPr sz="1350" b="1">
                <a:solidFill>
                  <a:srgbClr val="10151F"/>
                </a:solidFill>
              </a:rPr>
              <a:t>video pitch</a:t>
            </a:r>
          </a:p>
        </p:txBody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6B66C870-3A93-4597-92A7-B7CD179D0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9448800"/>
            <a:ext cx="62484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7A808A"/>
                </a:solidFill>
              </a:defRPr>
            </a:pPr>
            <a:r>
              <a:rPr sz="1125">
                <a:solidFill>
                  <a:srgbClr val="7A808A"/>
                </a:solidFill>
              </a:rPr>
              <a:t>Demo: huier5635-cmd.github.io/resilience-copilot-gemma4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35F177-E249-43D6-9C3B-A16CE0ACE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7910" y="2047875"/>
            <a:ext cx="9772841" cy="6191250"/>
          </a:xfrm>
          <a:prstGeom xmlns:a="http://schemas.openxmlformats.org/drawingml/2006/main" prst="roundRect">
            <a:avLst>
              <a:gd name="adj" fmla="val 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DD0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944854de3a4929"/>
          <a:stretch xmlns:a="http://schemas.openxmlformats.org/drawingml/2006/main"/>
        </p:blipFill>
        <p:spPr>
          <a:xfrm xmlns:a="http://schemas.openxmlformats.org/drawingml/2006/main">
            <a:off x="8223790" y="2143125"/>
            <a:ext cx="8641080" cy="6000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42653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0CBB6525-96B2-40CA-AEC0-2D513C800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51F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AD78AA-B56B-4A67-89E3-F5BE00638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33800"/>
            <a:ext cx="4000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857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48FD19-CD82-41B7-9A28-90140B47F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657600"/>
            <a:ext cx="1028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D6470"/>
                </a:solidFill>
              </a:defRPr>
            </a:pPr>
            <a:r>
              <a:rPr sz="1200" b="1">
                <a:solidFill>
                  <a:srgbClr val="5D6470"/>
                </a:solidFill>
              </a:rPr>
              <a:t>SAFETY SIDECAR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09FAF3-034E-4F26-958B-6C0542467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0"/>
            <a:ext cx="6896100" cy="1657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400" b="1">
                <a:solidFill>
                  <a:srgbClr val="FFFFFF"/>
                </a:solidFill>
              </a:defRPr>
            </a:pPr>
            <a:r>
              <a:rPr sz="5400" b="1">
                <a:solidFill>
                  <a:srgbClr val="FFFFFF"/>
                </a:solidFill>
              </a:rPr>
              <a:t>Small detector, bigger field discipline.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EFCDAA-8238-4B7C-8FC0-FA9E4A4E0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981700"/>
            <a:ext cx="65151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CBD5E1"/>
                </a:solidFill>
              </a:defRPr>
            </a:pPr>
            <a:r>
              <a:rPr sz="2100">
                <a:solidFill>
                  <a:srgbClr val="CBD5E1"/>
                </a:solidFill>
              </a:rPr>
              <a:t>Original branch: expand the sidecar beyond demo cases into official-channel checks that generic assistants often flatten.</a:t>
            </a:r>
          </a:p>
        </p:txBody>
      </p:sp>
      <p:sp>
        <p:nvSpPr>
          <p:cNvPr id="6" name="badge-children-cold-exposure">
            <a:extLst xmlns:a="http://schemas.openxmlformats.org/drawingml/2006/main">
              <a:ext uri="{FF2B5EF4-FFF2-40B4-BE49-F238E27FC236}">
                <a16:creationId xmlns:a16="http://schemas.microsoft.com/office/drawing/2014/main" id="{D31A5C6B-0085-4770-B226-514476513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085" y="666750"/>
            <a:ext cx="4472083" cy="2081213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5A66"/>
          </a:solidFill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AB6215-8397-407B-B5FD-F5E6CC5FA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1619250"/>
            <a:ext cx="1600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children cold exposure</a:t>
            </a:r>
          </a:p>
        </p:txBody>
      </p:sp>
      <p:sp>
        <p:nvSpPr>
          <p:cNvPr id="8" name="badge-medication-interruption">
            <a:extLst xmlns:a="http://schemas.openxmlformats.org/drawingml/2006/main">
              <a:ext uri="{FF2B5EF4-FFF2-40B4-BE49-F238E27FC236}">
                <a16:creationId xmlns:a16="http://schemas.microsoft.com/office/drawing/2014/main" id="{9787FC15-A95B-42D9-8FE8-CB4B16BE9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77717" y="666750"/>
            <a:ext cx="4472083" cy="2081213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857"/>
          </a:solidFill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1D659D-4EBA-4871-93E9-A0CC7E031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63700" y="1619250"/>
            <a:ext cx="1714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151F"/>
                </a:solidFill>
              </a:defRPr>
            </a:pPr>
            <a:r>
              <a:rPr sz="1350" b="1">
                <a:solidFill>
                  <a:srgbClr val="10151F"/>
                </a:solidFill>
              </a:rPr>
              <a:t>medication interruption</a:t>
            </a:r>
          </a:p>
        </p:txBody>
      </p:sp>
      <p:sp>
        <p:nvSpPr>
          <p:cNvPr id="10" name="badge-pregnancy-insulin">
            <a:extLst xmlns:a="http://schemas.openxmlformats.org/drawingml/2006/main">
              <a:ext uri="{FF2B5EF4-FFF2-40B4-BE49-F238E27FC236}">
                <a16:creationId xmlns:a16="http://schemas.microsoft.com/office/drawing/2014/main" id="{C6B2344D-E431-48F1-A0E7-EA858EFF3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085" y="2957513"/>
            <a:ext cx="4472083" cy="2081213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DA7FF"/>
          </a:solidFill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FFA5C3-CDE0-43D2-8B40-A531C0539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790950"/>
            <a:ext cx="13716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151F"/>
                </a:solidFill>
              </a:defRPr>
            </a:pPr>
            <a:r>
              <a:rPr sz="1350" b="1">
                <a:solidFill>
                  <a:srgbClr val="10151F"/>
                </a:solidFill>
              </a:rPr>
              <a:t>pregnancy + insulin</a:t>
            </a:r>
          </a:p>
        </p:txBody>
      </p:sp>
      <p:sp>
        <p:nvSpPr>
          <p:cNvPr id="12" name="badge-oxygen-power-loss">
            <a:extLst xmlns:a="http://schemas.openxmlformats.org/drawingml/2006/main">
              <a:ext uri="{FF2B5EF4-FFF2-40B4-BE49-F238E27FC236}">
                <a16:creationId xmlns:a16="http://schemas.microsoft.com/office/drawing/2014/main" id="{BD0C2C4F-EA64-4D84-AE32-59F907E89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77717" y="2957513"/>
            <a:ext cx="4472083" cy="2081213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EA5FF"/>
          </a:solidFill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0812F9-8DAA-4D5D-A0FB-41FE92C97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0" y="3905250"/>
            <a:ext cx="12954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oxygen power loss</a:t>
            </a:r>
          </a:p>
        </p:txBody>
      </p:sp>
      <p:sp>
        <p:nvSpPr>
          <p:cNvPr id="14" name="badge-language-access-barrier">
            <a:extLst xmlns:a="http://schemas.openxmlformats.org/drawingml/2006/main">
              <a:ext uri="{FF2B5EF4-FFF2-40B4-BE49-F238E27FC236}">
                <a16:creationId xmlns:a16="http://schemas.microsoft.com/office/drawing/2014/main" id="{23C23F53-DE60-4602-AA5F-EFE5DFFBE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085" y="5248275"/>
            <a:ext cx="4472083" cy="2081213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E2C5"/>
          </a:solidFill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FE1E32-E83B-4360-A7EE-0F9796461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6191250"/>
            <a:ext cx="16764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151F"/>
                </a:solidFill>
              </a:defRPr>
            </a:pPr>
            <a:r>
              <a:rPr sz="1350" b="1">
                <a:solidFill>
                  <a:srgbClr val="10151F"/>
                </a:solidFill>
              </a:rPr>
              <a:t>language access barrier</a:t>
            </a:r>
          </a:p>
        </p:txBody>
      </p:sp>
      <p:sp>
        <p:nvSpPr>
          <p:cNvPr id="16" name="badge-unverified-shelter-rumor">
            <a:extLst xmlns:a="http://schemas.openxmlformats.org/drawingml/2006/main">
              <a:ext uri="{FF2B5EF4-FFF2-40B4-BE49-F238E27FC236}">
                <a16:creationId xmlns:a16="http://schemas.microsoft.com/office/drawing/2014/main" id="{3F29BB98-ED28-4479-9F56-62324E604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77717" y="5248275"/>
            <a:ext cx="4472083" cy="2081213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2D572"/>
          </a:solidFill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7D6E01-641E-4D0A-8157-3C8D87150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44650" y="6191250"/>
            <a:ext cx="17526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151F"/>
                </a:solidFill>
              </a:defRPr>
            </a:pPr>
            <a:r>
              <a:rPr sz="1350" b="1">
                <a:solidFill>
                  <a:srgbClr val="10151F"/>
                </a:solidFill>
              </a:rPr>
              <a:t>unverified shelter rumor</a:t>
            </a:r>
          </a:p>
        </p:txBody>
      </p:sp>
      <p:sp>
        <p:nvSpPr>
          <p:cNvPr id="18" name="badge-official-resource-routing">
            <a:extLst xmlns:a="http://schemas.openxmlformats.org/drawingml/2006/main">
              <a:ext uri="{FF2B5EF4-FFF2-40B4-BE49-F238E27FC236}">
                <a16:creationId xmlns:a16="http://schemas.microsoft.com/office/drawing/2014/main" id="{73ECEBAE-3799-4BFE-812B-B485767ED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085" y="7539038"/>
            <a:ext cx="4472083" cy="2081213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8D4D"/>
          </a:solidFill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59F97F-F9E9-414E-B8B5-844F17C66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8362950"/>
            <a:ext cx="16764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151F"/>
                </a:solidFill>
              </a:defRPr>
            </a:pPr>
            <a:r>
              <a:rPr sz="1350" b="1">
                <a:solidFill>
                  <a:srgbClr val="10151F"/>
                </a:solidFill>
              </a:rPr>
              <a:t>official resource routing</a:t>
            </a:r>
          </a:p>
        </p:txBody>
      </p:sp>
      <p:sp>
        <p:nvSpPr>
          <p:cNvPr id="20" name="badge-responder-handoff">
            <a:extLst xmlns:a="http://schemas.openxmlformats.org/drawingml/2006/main">
              <a:ext uri="{FF2B5EF4-FFF2-40B4-BE49-F238E27FC236}">
                <a16:creationId xmlns:a16="http://schemas.microsoft.com/office/drawing/2014/main" id="{AD60F445-FDBF-411D-983D-61B2671D2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77717" y="7539038"/>
            <a:ext cx="4472083" cy="2081213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C77C42-671E-4833-87D3-2EC06A6BA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54200" y="8362950"/>
            <a:ext cx="1333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151F"/>
                </a:solidFill>
              </a:defRPr>
            </a:pPr>
            <a:r>
              <a:rPr sz="1350" b="1">
                <a:solidFill>
                  <a:srgbClr val="10151F"/>
                </a:solidFill>
              </a:rPr>
              <a:t>responder handoff</a:t>
            </a:r>
          </a:p>
        </p:txBody>
      </p:sp>
    </p:spTree>
    <p:extLst>
      <p:ext uri="{BB962C8B-B14F-4D97-AF65-F5344CB8AC3E}">
        <p14:creationId xmlns:p14="http://schemas.microsoft.com/office/powerpoint/2010/main" val="87238882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A785B97E-8450-4E50-85FF-C4FFD2AAD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2E8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1DE91E-D10C-4BE3-97F6-514923CD8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23900"/>
            <a:ext cx="4000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D572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B8AAF7-4BED-4F46-BEF7-D3180A7BF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666750"/>
            <a:ext cx="781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D6470"/>
                </a:solidFill>
              </a:defRPr>
            </a:pPr>
            <a:r>
              <a:rPr sz="1200" b="1">
                <a:solidFill>
                  <a:srgbClr val="5D6470"/>
                </a:solidFill>
              </a:rPr>
              <a:t>VALIDATION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D014DA-EF3F-4357-92AF-FF9351856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952500"/>
            <a:ext cx="166116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875" b="1">
                <a:solidFill>
                  <a:srgbClr val="10151F"/>
                </a:solidFill>
              </a:defRPr>
            </a:pPr>
            <a:r>
              <a:rPr sz="4875" b="1">
                <a:solidFill>
                  <a:srgbClr val="10151F"/>
                </a:solidFill>
              </a:rPr>
              <a:t>Local gates prove the exact claims in the writeup.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E7BC1C-0EF7-48D9-A47E-C8779E1B6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90700"/>
            <a:ext cx="16611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5D6470"/>
                </a:solidFill>
              </a:defRPr>
            </a:pPr>
            <a:r>
              <a:rPr sz="1950">
                <a:solidFill>
                  <a:srgbClr val="5D6470"/>
                </a:solidFill>
              </a:rPr>
              <a:t>No hidden dataset exists for this hackathon, so the validation is scenario-based and leakage-aware.</a:t>
            </a:r>
          </a:p>
        </p:txBody>
      </p:sp>
      <p:graphicFrame>
        <p:nvGraphicFramePr>
          <p:cNvPr id="6" name="validation-chart"/>
          <p:cNvGraphicFramePr/>
          <p:nvPr/>
        </p:nvGraphicFramePr>
        <p:xfrm>
          <a:off xmlns:a="http://schemas.openxmlformats.org/drawingml/2006/main" x="838200" y="2327910"/>
          <a:ext xmlns:a="http://schemas.openxmlformats.org/drawingml/2006/main" cx="7887653" cy="687324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f1b886a38ee45b4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AA0800-EDB8-436F-97F6-2A37CDF55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467100"/>
            <a:ext cx="821055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4EA5FF"/>
                </a:solidFill>
              </a:defRPr>
            </a:pPr>
            <a:r>
              <a:rPr sz="4800" b="1">
                <a:solidFill>
                  <a:srgbClr val="4EA5FF"/>
                </a:solidFill>
              </a:rPr>
              <a:t>2/2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40C905-E0EC-44BC-BB64-BE13C781F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210050"/>
            <a:ext cx="82105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0151F"/>
                </a:solidFill>
              </a:defRPr>
            </a:pPr>
            <a:r>
              <a:rPr sz="1575" b="1">
                <a:solidFill>
                  <a:srgbClr val="10151F"/>
                </a:solidFill>
              </a:rPr>
              <a:t>demo cases: presentable examples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4EFDBF-4A0C-43C5-8F5F-84E4258A6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276850"/>
            <a:ext cx="821055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72D572"/>
                </a:solidFill>
              </a:defRPr>
            </a:pPr>
            <a:r>
              <a:rPr sz="4800" b="1">
                <a:solidFill>
                  <a:srgbClr val="72D572"/>
                </a:solidFill>
              </a:rPr>
              <a:t>2/2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23859E-A145-4D35-BC62-62531060E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019800"/>
            <a:ext cx="82105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0151F"/>
                </a:solidFill>
              </a:defRPr>
            </a:pPr>
            <a:r>
              <a:rPr sz="1575" b="1">
                <a:solidFill>
                  <a:srgbClr val="10151F"/>
                </a:solidFill>
              </a:rPr>
              <a:t>holdout cases: not baked into prompt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D39B74-C97A-4122-8FD7-2DDAB6856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7086600"/>
            <a:ext cx="821055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FF5A66"/>
                </a:solidFill>
              </a:defRPr>
            </a:pPr>
            <a:r>
              <a:rPr sz="4800" b="1">
                <a:solidFill>
                  <a:srgbClr val="FF5A66"/>
                </a:solidFill>
              </a:rPr>
              <a:t>6/6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8B3D17-46DE-4087-86D2-C109D1B02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7829550"/>
            <a:ext cx="82105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0151F"/>
                </a:solidFill>
              </a:defRPr>
            </a:pPr>
            <a:r>
              <a:rPr sz="1575" b="1">
                <a:solidFill>
                  <a:srgbClr val="10151F"/>
                </a:solidFill>
              </a:rPr>
              <a:t>stress cases: edge-risk checks</a:t>
            </a:r>
          </a:p>
        </p:txBody>
      </p:sp>
      <p:sp>
        <p:nvSpPr>
          <p:cNvPr id="13" name="footer">
            <a:extLst xmlns:a="http://schemas.openxmlformats.org/drawingml/2006/main">
              <a:ext uri="{FF2B5EF4-FFF2-40B4-BE49-F238E27FC236}">
                <a16:creationId xmlns:a16="http://schemas.microsoft.com/office/drawing/2014/main" id="{A1D7C4C6-DDF5-447F-9254-E6AC6B659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9448800"/>
            <a:ext cx="166116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7A808A"/>
                </a:solidFill>
              </a:defRPr>
            </a:pPr>
            <a:r>
              <a:rPr sz="1125">
                <a:solidFill>
                  <a:srgbClr val="7A808A"/>
                </a:solidFill>
              </a:rPr>
              <a:t>Local command: python scripts\run_local_validation.py</a:t>
            </a:r>
          </a:p>
        </p:txBody>
      </p:sp>
    </p:spTree>
    <p:extLst>
      <p:ext uri="{BB962C8B-B14F-4D97-AF65-F5344CB8AC3E}">
        <p14:creationId xmlns:p14="http://schemas.microsoft.com/office/powerpoint/2010/main" val="12820775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71D54F9E-14E9-4D54-893C-8F01D2ADB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FE8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9C78F0-F91E-4F57-9E2C-B5780BFE6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23900"/>
            <a:ext cx="4000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66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AACADE-8219-4E86-B0C0-C1B8B0F6B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666750"/>
            <a:ext cx="13144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D6470"/>
                </a:solidFill>
              </a:defRPr>
            </a:pPr>
            <a:r>
              <a:rPr sz="1200" b="1">
                <a:solidFill>
                  <a:srgbClr val="5D6470"/>
                </a:solidFill>
              </a:rPr>
              <a:t>GEMMA 4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0C0151-6AD7-4A68-94D0-EE830ED52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066800"/>
            <a:ext cx="6591300" cy="2266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950" b="1">
                <a:solidFill>
                  <a:srgbClr val="10151F"/>
                </a:solidFill>
              </a:defRPr>
            </a:pPr>
            <a:r>
              <a:rPr sz="4950" b="1">
                <a:solidFill>
                  <a:srgbClr val="10151F"/>
                </a:solidFill>
              </a:rPr>
              <a:t>The model claim is tied to a Kaggle Notebook run.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452CC8-CE82-46DC-91A3-F9D454BE9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24250"/>
            <a:ext cx="63436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5D6470"/>
                </a:solidFill>
              </a:defRPr>
            </a:pPr>
            <a:r>
              <a:rPr sz="2025">
                <a:solidFill>
                  <a:srgbClr val="5D6470"/>
                </a:solidFill>
              </a:rPr>
              <a:t>Official Kaggle model resource, logged environment, prompt, response, latency, and generated token count.</a:t>
            </a:r>
          </a:p>
        </p:txBody>
      </p:sp>
      <p:sp>
        <p:nvSpPr>
          <p:cNvPr id="6" name="badge-tesla-t4">
            <a:extLst xmlns:a="http://schemas.openxmlformats.org/drawingml/2006/main">
              <a:ext uri="{FF2B5EF4-FFF2-40B4-BE49-F238E27FC236}">
                <a16:creationId xmlns:a16="http://schemas.microsoft.com/office/drawing/2014/main" id="{EBE8A4D3-FF79-4B0B-B3CF-AF1A77F3B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054340"/>
            <a:ext cx="905066" cy="37719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51F"/>
          </a:solidFill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B0D011-9F68-4A87-8A75-BB0D548DF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8153400"/>
            <a:ext cx="571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Tesla T4</a:t>
            </a:r>
          </a:p>
        </p:txBody>
      </p:sp>
      <p:sp>
        <p:nvSpPr>
          <p:cNvPr id="8" name="badge-160-new-tokens">
            <a:extLst xmlns:a="http://schemas.openxmlformats.org/drawingml/2006/main">
              <a:ext uri="{FF2B5EF4-FFF2-40B4-BE49-F238E27FC236}">
                <a16:creationId xmlns:a16="http://schemas.microsoft.com/office/drawing/2014/main" id="{97FDC2E6-13E5-4945-BB67-A7A7F9A99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545830"/>
            <a:ext cx="1460754" cy="37719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857"/>
          </a:solidFill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037025-4B7D-4F8F-BE2B-B40EB958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8648700"/>
            <a:ext cx="11049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151F"/>
                </a:solidFill>
              </a:defRPr>
            </a:pPr>
            <a:r>
              <a:rPr sz="1350" b="1">
                <a:solidFill>
                  <a:srgbClr val="10151F"/>
                </a:solidFill>
              </a:rPr>
              <a:t>160 new tokens</a:t>
            </a:r>
          </a:p>
        </p:txBody>
      </p:sp>
      <p:sp>
        <p:nvSpPr>
          <p:cNvPr id="10" name="badge-18-014s-recorded-latency">
            <a:extLst xmlns:a="http://schemas.openxmlformats.org/drawingml/2006/main">
              <a:ext uri="{FF2B5EF4-FFF2-40B4-BE49-F238E27FC236}">
                <a16:creationId xmlns:a16="http://schemas.microsoft.com/office/drawing/2014/main" id="{FE86A578-EB10-4001-BBD5-E8DA99856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9037320"/>
            <a:ext cx="2120646" cy="5829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E2C5"/>
          </a:solidFill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784861-FDC2-4185-82A7-117470EC5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9124950"/>
            <a:ext cx="17907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151F"/>
                </a:solidFill>
              </a:defRPr>
            </a:pPr>
            <a:r>
              <a:rPr sz="1350" b="1">
                <a:solidFill>
                  <a:srgbClr val="10151F"/>
                </a:solidFill>
              </a:rPr>
              <a:t>18.014s recorded latency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5C52B5-EA26-4839-8AF5-C0E450F91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2423" y="2047875"/>
            <a:ext cx="9497378" cy="6191250"/>
          </a:xfrm>
          <a:prstGeom xmlns:a="http://schemas.openxmlformats.org/drawingml/2006/main" prst="roundRect">
            <a:avLst>
              <a:gd name="adj" fmla="val 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DD0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5b01e61e6f4e2f"/>
          <a:stretch xmlns:a="http://schemas.openxmlformats.org/drawingml/2006/main"/>
        </p:blipFill>
        <p:spPr>
          <a:xfrm xmlns:a="http://schemas.openxmlformats.org/drawingml/2006/main">
            <a:off x="8047673" y="2933117"/>
            <a:ext cx="9306878" cy="4420767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64154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0BF2CED1-ECFF-46B9-8C27-56904CFBC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51F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00F30E-E226-4B61-BF7D-FA1832432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00100"/>
            <a:ext cx="4000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E2C5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88546D-3658-4220-A71F-A2EF0B252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723900"/>
            <a:ext cx="800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D6470"/>
                </a:solidFill>
              </a:defRPr>
            </a:pPr>
            <a:r>
              <a:rPr sz="1200" b="1">
                <a:solidFill>
                  <a:srgbClr val="5D6470"/>
                </a:solidFill>
              </a:rPr>
              <a:t>PRIZE STORY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3E97F4-5B5E-4C82-A496-809F774F8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123950"/>
            <a:ext cx="12172950" cy="17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FFFFFF"/>
                </a:solidFill>
              </a:defRPr>
            </a:pPr>
            <a:r>
              <a:rPr sz="5700" b="1">
                <a:solidFill>
                  <a:srgbClr val="FFFFFF"/>
                </a:solidFill>
              </a:rPr>
              <a:t>Safer handoffs, faster volunteers, clearer evidence.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312FF7-F170-4D54-B4B6-31B089D21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67050"/>
            <a:ext cx="112776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D6DEE9"/>
                </a:solidFill>
              </a:defRPr>
            </a:pPr>
            <a:r>
              <a:rPr sz="2250">
                <a:solidFill>
                  <a:srgbClr val="D6DEE9"/>
                </a:solidFill>
              </a:rPr>
              <a:t>This is deliberately narrow: one crisis workflow, visible safety constraints, official-resource checks, public evidence, and a clear path to stronger multilingual Gemma 4 generation.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8BE8FC-0F5E-4614-85B9-3A620BEBC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70220"/>
            <a:ext cx="5334000" cy="200025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1B2432"/>
          </a:solidFill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E9CBBD-6EC4-400D-8FCA-7EEA292EC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29350"/>
            <a:ext cx="48387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2DE2C5"/>
                </a:solidFill>
              </a:defRPr>
            </a:pPr>
            <a:r>
              <a:rPr sz="2400" b="1">
                <a:solidFill>
                  <a:srgbClr val="2DE2C5"/>
                </a:solidFill>
              </a:rPr>
              <a:t>Demo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16BC71-60D8-4285-931D-2F768CC7C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705600"/>
            <a:ext cx="4838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FFFFF"/>
                </a:solidFill>
              </a:defRPr>
            </a:pPr>
            <a:r>
              <a:rPr sz="1425">
                <a:solidFill>
                  <a:srgbClr val="FFFFFF"/>
                </a:solidFill>
              </a:rPr>
              <a:t>huier5635-cmd.github.io/resilience-copilot-gemma4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C0E762-2768-4D3E-BE7B-E10888AA5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570220"/>
            <a:ext cx="5334000" cy="200025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1B2432"/>
          </a:solidFill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E6AD84-6483-49C5-9DC4-2B2B62006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6229350"/>
            <a:ext cx="48387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C857"/>
                </a:solidFill>
              </a:defRPr>
            </a:pPr>
            <a:r>
              <a:rPr sz="2400" b="1">
                <a:solidFill>
                  <a:srgbClr val="FFC857"/>
                </a:solidFill>
              </a:rPr>
              <a:t>Code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DAA285-4CAD-4D23-8EE6-2C6A7E8FE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6705600"/>
            <a:ext cx="4838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FFFFF"/>
                </a:solidFill>
              </a:defRPr>
            </a:pPr>
            <a:r>
              <a:rPr sz="1425">
                <a:solidFill>
                  <a:srgbClr val="FFFFFF"/>
                </a:solidFill>
              </a:rPr>
              <a:t>github.com/huier5635-cmd/resilience-copilot-gemma4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4DBAE4-1FB4-424E-8B1A-05B6CAEB3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58650" y="5570220"/>
            <a:ext cx="5334000" cy="200025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1B2432"/>
          </a:solidFill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08C1F5-1E6C-4B08-887D-AF6F47788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06300" y="6210300"/>
            <a:ext cx="48387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5A66"/>
                </a:solidFill>
              </a:defRPr>
            </a:pPr>
            <a:r>
              <a:rPr sz="2400" b="1">
                <a:solidFill>
                  <a:srgbClr val="FF5A66"/>
                </a:solidFill>
              </a:rPr>
              <a:t>Video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7E877D-B976-4F9B-B50C-AE1041444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06300" y="6686550"/>
            <a:ext cx="4838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youtu.be/CmqCV8Ic9cY</a:t>
            </a:r>
          </a:p>
        </p:txBody>
      </p:sp>
      <p:sp>
        <p:nvSpPr>
          <p:cNvPr id="15" name="footer">
            <a:extLst xmlns:a="http://schemas.openxmlformats.org/drawingml/2006/main">
              <a:ext uri="{FF2B5EF4-FFF2-40B4-BE49-F238E27FC236}">
                <a16:creationId xmlns:a16="http://schemas.microsoft.com/office/drawing/2014/main" id="{92B822D3-ADC7-4DA7-9C9D-A511D82D7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9391650"/>
            <a:ext cx="164973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7A808A"/>
                </a:solidFill>
              </a:defRPr>
            </a:pPr>
            <a:r>
              <a:rPr sz="1125">
                <a:solidFill>
                  <a:srgbClr val="7A808A"/>
                </a:solidFill>
              </a:rPr>
              <a:t>Submitted writeup: kaggle.com/competitions/gemma-4-good-hackathon/writeups/new-writeup-1778665719423</a:t>
            </a:r>
          </a:p>
        </p:txBody>
      </p:sp>
    </p:spTree>
    <p:extLst>
      <p:ext uri="{BB962C8B-B14F-4D97-AF65-F5344CB8AC3E}">
        <p14:creationId xmlns:p14="http://schemas.microsoft.com/office/powerpoint/2010/main" val="39158118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2026-05-13T23:20:47.4230000Z</dcterms:created>
  <dcterms:modified xsi:type="dcterms:W3CDTF">2026-05-13T23:20:47.4230000Z</dcterms:modified>
</coreProperties>
</file>