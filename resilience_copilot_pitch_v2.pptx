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3619540eb14a73" /><Relationship Type="http://schemas.openxmlformats.org/officeDocument/2006/relationships/extended-properties" Target="/docProps/app.xml" Id="R636f6880806c4bc1" /><Relationship Type="http://schemas.openxmlformats.org/officeDocument/2006/relationships/officeDocument" Target="/ppt/presentation.xml" Id="R5ee11ff47ba044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11bd6f84164f8b"/>
  </p:sldMasterIdLst>
  <p:notesMasterIdLst>
    <p:notesMasterId xmlns:r="http://schemas.openxmlformats.org/officeDocument/2006/relationships" r:id="R57aef327187c4408"/>
  </p:notesMasterIdLst>
  <p:sldIdLst>
    <p:sldId xmlns:r="http://schemas.openxmlformats.org/officeDocument/2006/relationships" id="256" r:id="Rdd00103168c343ba"/>
    <p:sldId xmlns:r="http://schemas.openxmlformats.org/officeDocument/2006/relationships" id="257" r:id="R06886fad992a474a"/>
    <p:sldId xmlns:r="http://schemas.openxmlformats.org/officeDocument/2006/relationships" id="258" r:id="Ra24b02fd6cfc4a4d"/>
    <p:sldId xmlns:r="http://schemas.openxmlformats.org/officeDocument/2006/relationships" id="259" r:id="R9ac742180f234fc9"/>
    <p:sldId xmlns:r="http://schemas.openxmlformats.org/officeDocument/2006/relationships" id="260" r:id="R87b5aa5e7bac4bd7"/>
    <p:sldId xmlns:r="http://schemas.openxmlformats.org/officeDocument/2006/relationships" id="261" r:id="Rd4ce05ef30a643da"/>
    <p:sldId xmlns:r="http://schemas.openxmlformats.org/officeDocument/2006/relationships" id="262" r:id="R1c5e654dbc8e43a4"/>
    <p:sldId xmlns:r="http://schemas.openxmlformats.org/officeDocument/2006/relationships" id="263" r:id="R55fddb203b1945fc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11bd6f84164f8b" /><Relationship Type="http://schemas.openxmlformats.org/officeDocument/2006/relationships/theme" Target="/ppt/theme/theme1.xml" Id="Rdb005335da4e4c7d" /><Relationship Type="http://schemas.openxmlformats.org/officeDocument/2006/relationships/notesMaster" Target="/ppt/notesMasters/notesMaster1.xml" Id="R57aef327187c4408" /><Relationship Type="http://schemas.openxmlformats.org/officeDocument/2006/relationships/presProps" Target="/ppt/presProps.xml" Id="R18148642ff594a38" /><Relationship Type="http://schemas.openxmlformats.org/officeDocument/2006/relationships/viewProps" Target="/ppt/viewProps.xml" Id="Rded093de6a754856" /><Relationship Type="http://schemas.openxmlformats.org/officeDocument/2006/relationships/tableStyles" Target="/ppt/tableStyles.xml" Id="R130fbbc378f74e29" /><Relationship Type="http://schemas.openxmlformats.org/officeDocument/2006/relationships/slide" Target="/ppt/slides/slide1.xml" Id="Rdd00103168c343ba" /><Relationship Type="http://schemas.openxmlformats.org/officeDocument/2006/relationships/slide" Target="/ppt/slides/slide2.xml" Id="R06886fad992a474a" /><Relationship Type="http://schemas.openxmlformats.org/officeDocument/2006/relationships/slide" Target="/ppt/slides/slide3.xml" Id="Ra24b02fd6cfc4a4d" /><Relationship Type="http://schemas.openxmlformats.org/officeDocument/2006/relationships/slide" Target="/ppt/slides/slide4.xml" Id="R9ac742180f234fc9" /><Relationship Type="http://schemas.openxmlformats.org/officeDocument/2006/relationships/slide" Target="/ppt/slides/slide5.xml" Id="R87b5aa5e7bac4bd7" /><Relationship Type="http://schemas.openxmlformats.org/officeDocument/2006/relationships/slide" Target="/ppt/slides/slide6.xml" Id="Rd4ce05ef30a643da" /><Relationship Type="http://schemas.openxmlformats.org/officeDocument/2006/relationships/slide" Target="/ppt/slides/slide7.xml" Id="R1c5e654dbc8e43a4" /><Relationship Type="http://schemas.openxmlformats.org/officeDocument/2006/relationships/slide" Target="/ppt/slides/slide8.xml" Id="R55fddb203b1945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cdb3608d1b240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807038d4cb448f" /><Relationship Type="http://schemas.openxmlformats.org/officeDocument/2006/relationships/notesMaster" Target="/ppt/notesMasters/notesMaster1.xml" Id="Rcb548096aa594a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40984ab1584b5c" /><Relationship Type="http://schemas.openxmlformats.org/officeDocument/2006/relationships/notesMaster" Target="/ppt/notesMasters/notesMaster1.xml" Id="R79eb95ba73e04e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9779d9853d4968" /><Relationship Type="http://schemas.openxmlformats.org/officeDocument/2006/relationships/notesMaster" Target="/ppt/notesMasters/notesMaster1.xml" Id="Rb4402d0ea2ee419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a030b48ff64a75" /><Relationship Type="http://schemas.openxmlformats.org/officeDocument/2006/relationships/notesMaster" Target="/ppt/notesMasters/notesMaster1.xml" Id="R47052ce0e0d547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bf3e238d1c482d" /><Relationship Type="http://schemas.openxmlformats.org/officeDocument/2006/relationships/notesMaster" Target="/ppt/notesMasters/notesMaster1.xml" Id="R0b314acda1bb480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7b3ec44a5543ea" /><Relationship Type="http://schemas.openxmlformats.org/officeDocument/2006/relationships/notesMaster" Target="/ppt/notesMasters/notesMaster1.xml" Id="R6dc150225eb943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a82d297793488e" /><Relationship Type="http://schemas.openxmlformats.org/officeDocument/2006/relationships/notesMaster" Target="/ppt/notesMasters/notesMaster1.xml" Id="R0d9903fceaa340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93dfbc6bb74fcf" /><Relationship Type="http://schemas.openxmlformats.org/officeDocument/2006/relationships/notesMaster" Target="/ppt/notesMasters/notesMaster1.xml" Id="R589178a611714c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71430cd4754d3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3ce5e65bef54e84" /><Relationship Type="http://schemas.openxmlformats.org/officeDocument/2006/relationships/slideLayout" Target="/ppt/slideLayouts/slideLayout2.xml" Id="R405d943c95214b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5d943c95214b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20dcf7675140a8" /><Relationship Type="http://schemas.openxmlformats.org/officeDocument/2006/relationships/image" Target="/ppt/media/image.png" Id="R5cef95f4ff0041a5" /><Relationship Type="http://schemas.openxmlformats.org/officeDocument/2006/relationships/notesSlide" Target="/ppt/notesSlides/notesSlide1.xml" Id="Reae53072369b4c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f7d024831b4f5d" /><Relationship Type="http://schemas.openxmlformats.org/officeDocument/2006/relationships/notesSlide" Target="/ppt/notesSlides/notesSlide2.xml" Id="Rf3b278584c7b4f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9c31f5289b4b3e" /><Relationship Type="http://schemas.openxmlformats.org/officeDocument/2006/relationships/notesSlide" Target="/ppt/notesSlides/notesSlide3.xml" Id="R91c1f61a44254a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d9e253ec8c4aa7" /><Relationship Type="http://schemas.openxmlformats.org/officeDocument/2006/relationships/image" Target="/ppt/media/image2.png" Id="Re2da131b43ea421a" /><Relationship Type="http://schemas.openxmlformats.org/officeDocument/2006/relationships/notesSlide" Target="/ppt/notesSlides/notesSlide4.xml" Id="Re2c55b269c514d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e979d3ee7440d9" /><Relationship Type="http://schemas.openxmlformats.org/officeDocument/2006/relationships/notesSlide" Target="/ppt/notesSlides/notesSlide5.xml" Id="R01ccfc6b7b1241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3739d817b0487b" /><Relationship Type="http://schemas.openxmlformats.org/officeDocument/2006/relationships/chart" Target="/ppt/slides/charts/chart1.xml" Id="Reb44abe68c3a4d15" /><Relationship Type="http://schemas.openxmlformats.org/officeDocument/2006/relationships/notesSlide" Target="/ppt/notesSlides/notesSlide6.xml" Id="R9a99d0d8f89540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c29e133d144350" /><Relationship Type="http://schemas.openxmlformats.org/officeDocument/2006/relationships/image" Target="/ppt/media/image3.png" Id="R63029c33cd7741e6" /><Relationship Type="http://schemas.openxmlformats.org/officeDocument/2006/relationships/notesSlide" Target="/ppt/notesSlides/notesSlide7.xml" Id="R9576e469a90944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f923804863420d" /><Relationship Type="http://schemas.openxmlformats.org/officeDocument/2006/relationships/notesSlide" Target="/ppt/notesSlides/notesSlide8.xml" Id="R39b9a22b98ec4865" /></Relationships>
</file>

<file path=ppt/slides/charts/chart1.xml><?xml version="1.0" encoding="utf-8"?>
<c:chartSpace xmlns:c="http://schemas.openxmlformats.org/drawingml/2006/chart">
  <c:lang val="en-US"/>
  <c:roundedCorners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Passes by validation split</a:t>
            </a:r>
          </a:p>
        </c:rich>
      </c:tx>
      <c:overlay val="0"/>
    </c:title>
    <c:autoTitleDeleted val="0"/>
    <c:plotArea>
      <c:layout/>
      <c:barChart>
        <c:barDir val="col"/>
        <c:varyColors val="0"/>
        <c:ser>
          <c:idx val="0"/>
          <c:order val="0"/>
          <c:tx>
            <c:v>Passed</c:v>
          </c:tx>
          <c:cat>
            <c:strLit>
              <c:ptCount val="3"/>
              <c:pt idx="0">
                <c:v>Demo</c:v>
              </c:pt>
              <c:pt idx="1">
                <c:v>Holdout</c:v>
              </c:pt>
              <c:pt idx="2">
                <c:v>Stress</c:v>
              </c:pt>
            </c:strLit>
          </c:cat>
          <c:val>
            <c:numLit>
              <c:formatCode/>
              <c:ptCount val="3"/>
              <c:pt idx="0">
                <c:v>2</c:v>
              </c:pt>
              <c:pt idx="1">
                <c:v>2</c:v>
              </c:pt>
              <c:pt idx="2">
                <c:v>5</c:v>
              </c:pt>
            </c:numLit>
          </c:val>
        </c:ser>
        <c:ser>
          <c:idx val="1"/>
          <c:order val="1"/>
          <c:tx>
            <c:v>Required</c:v>
          </c:tx>
          <c:cat>
            <c:strLit>
              <c:ptCount val="3"/>
              <c:pt idx="0">
                <c:v>Demo</c:v>
              </c:pt>
              <c:pt idx="1">
                <c:v>Holdout</c:v>
              </c:pt>
              <c:pt idx="2">
                <c:v>Stress</c:v>
              </c:pt>
            </c:strLit>
          </c:cat>
          <c:val>
            <c:numLit>
              <c:formatCode/>
              <c:ptCount val="3"/>
              <c:pt idx="0">
                <c:v>2</c:v>
              </c:pt>
              <c:pt idx="1">
                <c:v>2</c:v>
              </c:pt>
              <c:pt idx="2">
                <c:v>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DB85DEC-0B99-48A0-9D12-1B23EFAE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51F"/>
          </a:solidFill>
        </p:spPr>
      </p:sp>
      <p:sp>
        <p:nvSpPr>
          <p:cNvPr id="2" name="badge-gemma-4-good">
            <a:extLst xmlns:a="http://schemas.openxmlformats.org/drawingml/2006/main">
              <a:ext uri="{FF2B5EF4-FFF2-40B4-BE49-F238E27FC236}">
                <a16:creationId xmlns:a16="http://schemas.microsoft.com/office/drawing/2014/main" id="{6CD1382F-382D-4D01-9E2A-9869B62E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15621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376DA-5B53-476A-AD09-A1DCD957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1219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Gemma 4 Good</a:t>
            </a:r>
          </a:p>
        </p:txBody>
      </p:sp>
      <p:sp>
        <p:nvSpPr>
          <p:cNvPr id="4" name="badge-safety-first-crisis-ai">
            <a:extLst xmlns:a="http://schemas.openxmlformats.org/drawingml/2006/main">
              <a:ext uri="{FF2B5EF4-FFF2-40B4-BE49-F238E27FC236}">
                <a16:creationId xmlns:a16="http://schemas.microsoft.com/office/drawing/2014/main" id="{8B43C3B5-A675-494E-A815-CA7289F3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86100"/>
            <a:ext cx="2286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A66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F59C55-4261-41BF-8DDB-BD59F181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181350"/>
            <a:ext cx="1924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Safety-first crisis AI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063E23-4AB6-48FE-A1D0-28F8506F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8477250" cy="2571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400" b="1">
                <a:solidFill>
                  <a:srgbClr val="FFFFFF"/>
                </a:solidFill>
              </a:defRPr>
            </a:pPr>
            <a:r>
              <a:rPr sz="8400" b="1">
                <a:solidFill>
                  <a:srgbClr val="FFFFFF"/>
                </a:solidFill>
              </a:rPr>
              <a:t>Resilience</a:t>
            </a:r>
          </a:p>
          <a:p xmlns:a="http://schemas.openxmlformats.org/drawingml/2006/main">
            <a:pPr>
              <a:defRPr sz="8400" b="1">
                <a:solidFill>
                  <a:srgbClr val="FFFFFF"/>
                </a:solidFill>
              </a:defRPr>
            </a:pPr>
            <a:r>
              <a:rPr sz="8400" b="1">
                <a:solidFill>
                  <a:srgbClr val="FFFFFF"/>
                </a:solidFill>
              </a:rPr>
              <a:t>Copilot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7F7CE9-A81C-4CB5-B536-3A58E998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96050"/>
            <a:ext cx="69723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DDE5EE"/>
                </a:solidFill>
              </a:defRPr>
            </a:pPr>
            <a:r>
              <a:rPr sz="2325">
                <a:solidFill>
                  <a:srgbClr val="DDE5EE"/>
                </a:solidFill>
              </a:rPr>
              <a:t>A field-ready assistant that turns messy disaster notes into safer responder handoffs.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334D5-997B-4126-A689-E2080558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460" y="666750"/>
            <a:ext cx="767334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A8C7B6-C80B-44DB-B1C4-8D7D9592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895350"/>
            <a:ext cx="7162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151F"/>
                </a:solidFill>
              </a:defRPr>
            </a:pPr>
            <a:r>
              <a:rPr sz="1800" b="1">
                <a:solidFill>
                  <a:srgbClr val="10151F"/>
                </a:solidFill>
              </a:rPr>
              <a:t>rough note -&gt; risk sidecar -&gt; Gemma 4 response -&gt; responder 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263490-2018-4164-ACC8-7209C042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460" y="1562100"/>
            <a:ext cx="7673340" cy="7810500"/>
          </a:xfrm>
          <a:prstGeom xmlns:a="http://schemas.openxmlformats.org/drawingml/2006/main" prst="roundRect">
            <a:avLst>
              <a:gd name="adj" fmla="val 4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DD0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ef95f4ff0041a5"/>
          <a:srcRect xmlns:a="http://schemas.openxmlformats.org/drawingml/2006/main" l="8504" t="0" r="850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71710" y="1657350"/>
            <a:ext cx="7482840" cy="7620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4037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0614F06-9FFB-42EA-A2BD-8B63D75E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A49C8D-B55D-4F95-93FD-F153D293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66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43E79-E4DC-4BEB-9468-A198B4AB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85800"/>
            <a:ext cx="9144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THE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D8109-E5D6-4069-BAAD-AD88CD04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76350"/>
            <a:ext cx="7372350" cy="2476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10151F"/>
                </a:solidFill>
              </a:defRPr>
            </a:pPr>
            <a:r>
              <a:rPr sz="5400" b="1">
                <a:solidFill>
                  <a:srgbClr val="10151F"/>
                </a:solidFill>
              </a:rPr>
              <a:t>In a crisis, a confident wrong answer is a liability.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B8C0A-4F7C-4FCE-AB87-6AE4F85F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81450"/>
            <a:ext cx="5715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5D6470"/>
                </a:solidFill>
              </a:defRPr>
            </a:pPr>
            <a:r>
              <a:rPr sz="2175">
                <a:solidFill>
                  <a:srgbClr val="5D6470"/>
                </a:solidFill>
              </a:rPr>
              <a:t>Volunteers need structured triage notes, not fluent improvisation under pressure.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524297C-9591-4056-A3F2-61B15E71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29750"/>
            <a:ext cx="7372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08A"/>
                </a:solidFill>
              </a:defRPr>
            </a:pPr>
            <a:r>
              <a:rPr sz="1125">
                <a:solidFill>
                  <a:srgbClr val="7A808A"/>
                </a:solidFill>
              </a:rPr>
              <a:t>Resilience Copilot | Gemma 4 Good Hackathon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61E4D9-B82B-46C2-8190-CA302E88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096" y="2667000"/>
            <a:ext cx="8661654" cy="3067050"/>
          </a:xfrm>
          <a:prstGeom xmlns:a="http://schemas.openxmlformats.org/drawingml/2006/main" prst="roundRect">
            <a:avLst>
              <a:gd name="adj" fmla="val 1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D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104DAD-D44D-4349-B738-D5C4679C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66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0B4C2C-A20A-4AC9-8ED6-C6C83D1E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67050"/>
            <a:ext cx="7677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B828C"/>
                </a:solidFill>
              </a:defRPr>
            </a:pPr>
            <a:r>
              <a:rPr sz="1200">
                <a:solidFill>
                  <a:srgbClr val="7B828C"/>
                </a:solidFill>
              </a:rPr>
              <a:t>Case note says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613CD6-BBE7-475D-BE38-EA7BBE65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385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51F"/>
                </a:solidFill>
              </a:defRPr>
            </a:pPr>
            <a:r>
              <a:rPr sz="1725" b="1">
                <a:solidFill>
                  <a:srgbClr val="10151F"/>
                </a:solidFill>
              </a:rPr>
              <a:t>older adult + oxygen + power outage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EE42AE-DF94-4950-A153-C6D860D6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148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0ABEF-FA4D-47FE-A137-3D350873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81450"/>
            <a:ext cx="7677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B828C"/>
                </a:solidFill>
              </a:defRPr>
            </a:pPr>
            <a:r>
              <a:rPr sz="1200">
                <a:solidFill>
                  <a:srgbClr val="7B828C"/>
                </a:solidFill>
              </a:rPr>
              <a:t>Hidden risk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70C86B-C366-4E80-A309-9D63938C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529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51F"/>
                </a:solidFill>
              </a:defRPr>
            </a:pPr>
            <a:r>
              <a:rPr sz="1725" b="1">
                <a:solidFill>
                  <a:srgbClr val="10151F"/>
                </a:solidFill>
              </a:rPr>
              <a:t>powered medical device battery may fail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AE3A30-0595-4CF5-AFB7-C6A984C8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029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A5FF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CA2582-ECBA-4642-9700-F25A4DA8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95850"/>
            <a:ext cx="7677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B828C"/>
                </a:solidFill>
              </a:defRPr>
            </a:pPr>
            <a:r>
              <a:rPr sz="1200">
                <a:solidFill>
                  <a:srgbClr val="7B828C"/>
                </a:solidFill>
              </a:rPr>
              <a:t>Unsafe chatbot failure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DEE004-89F6-4980-AD01-23548AB5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0673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51F"/>
                </a:solidFill>
              </a:defRPr>
            </a:pPr>
            <a:r>
              <a:rPr sz="1725" b="1">
                <a:solidFill>
                  <a:srgbClr val="10151F"/>
                </a:solidFill>
              </a:rPr>
              <a:t>casual reassurance or invented local capacity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FA254B-1C8E-4459-AEB2-25401E63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6324600"/>
            <a:ext cx="27813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F5A66"/>
                </a:solidFill>
              </a:defRPr>
            </a:pPr>
            <a:r>
              <a:rPr sz="4800" b="1">
                <a:solidFill>
                  <a:srgbClr val="FF5A66"/>
                </a:solidFill>
              </a:rPr>
              <a:t>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EEA05B-5F8D-4097-B6DA-90FDD4D4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048500"/>
            <a:ext cx="2781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response sections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FD4242-B478-4502-9F92-17B04CB5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324600"/>
            <a:ext cx="27813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4EA5FF"/>
                </a:solidFill>
              </a:defRPr>
            </a:pPr>
            <a:r>
              <a:rPr sz="4800" b="1">
                <a:solidFill>
                  <a:srgbClr val="4EA5FF"/>
                </a:solidFill>
              </a:rPr>
              <a:t>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5C22FA-E269-4261-AAD7-6F743B4E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7048500"/>
            <a:ext cx="2781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stress/demo/holdout checks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C1DA6A-8582-4264-B385-9D52D7D9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6324600"/>
            <a:ext cx="27813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72D572"/>
                </a:solidFill>
              </a:defRPr>
            </a:pPr>
            <a:r>
              <a:rPr sz="4800" b="1">
                <a:solidFill>
                  <a:srgbClr val="72D572"/>
                </a:solidFill>
              </a:rPr>
              <a:t>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B34678-3A51-4F8A-A812-012EA869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7048500"/>
            <a:ext cx="2781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diagnosis claims</a:t>
            </a:r>
          </a:p>
        </p:txBody>
      </p:sp>
    </p:spTree>
    <p:extLst>
      <p:ext uri="{BB962C8B-B14F-4D97-AF65-F5344CB8AC3E}">
        <p14:creationId xmlns:p14="http://schemas.microsoft.com/office/powerpoint/2010/main" val="8407058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27AC55D-1378-4A8B-B871-0F75FBC6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51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2A05CC-C3B6-4DFE-8EF2-DBEACE86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001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E2C5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34F81-4D57-42E9-9750-CAA605FB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7700"/>
            <a:ext cx="13525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PRODUCT MECHANIC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4DB1E1-2CD1-4217-BA5D-B84DBBA2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123950"/>
            <a:ext cx="124968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The sidecar makes the model useful without hiding the safety rails.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5DE71-88AF-4099-9B73-997CAA39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3321564" cy="4000500"/>
          </a:xfrm>
          <a:prstGeom xmlns:a="http://schemas.openxmlformats.org/drawingml/2006/main" prst="roundRect">
            <a:avLst>
              <a:gd name="adj" fmla="val 1147"/>
            </a:avLst>
          </a:prstGeom>
          <a:solidFill xmlns:a="http://schemas.openxmlformats.org/drawingml/2006/main">
            <a:srgbClr val="1B2432"/>
          </a:solidFill>
        </p:spPr>
      </p:sp>
      <p:sp>
        <p:nvSpPr>
          <p:cNvPr id="6" name="badge-1">
            <a:extLst xmlns:a="http://schemas.openxmlformats.org/drawingml/2006/main">
              <a:ext uri="{FF2B5EF4-FFF2-40B4-BE49-F238E27FC236}">
                <a16:creationId xmlns:a16="http://schemas.microsoft.com/office/drawing/2014/main" id="{F3145B90-6A60-42C0-8A6C-0E7A85B7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93995"/>
            <a:ext cx="429768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A66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E05020-4724-48E5-BDF8-5F53898B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391150"/>
            <a:ext cx="76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7A058B-8B3D-4A40-8F78-2CC2E421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848350"/>
            <a:ext cx="2743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Messy intake note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53FCC3-41A1-46F9-9E66-E009DE60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381750"/>
            <a:ext cx="27432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CBD5E1"/>
                </a:solidFill>
              </a:defRPr>
            </a:pPr>
            <a:r>
              <a:rPr sz="1800">
                <a:solidFill>
                  <a:srgbClr val="CBD5E1"/>
                </a:solidFill>
              </a:rPr>
              <a:t>Flood, cold children, medication, pet shelter, transport, language needs.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5EB9C0-E988-4CB6-82CE-B70DE999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981700"/>
            <a:ext cx="4953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C857"/>
                </a:solidFill>
              </a:defRPr>
            </a:pPr>
            <a:r>
              <a:rPr sz="3450" b="1">
                <a:solidFill>
                  <a:srgbClr val="FFC857"/>
                </a:solidFill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F2DAF4-5B7C-4A86-B358-782EDE40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8914" y="4248150"/>
            <a:ext cx="3506095" cy="4000500"/>
          </a:xfrm>
          <a:prstGeom xmlns:a="http://schemas.openxmlformats.org/drawingml/2006/main" prst="roundRect">
            <a:avLst>
              <a:gd name="adj" fmla="val 1087"/>
            </a:avLst>
          </a:prstGeom>
          <a:solidFill xmlns:a="http://schemas.openxmlformats.org/drawingml/2006/main">
            <a:srgbClr val="172F35"/>
          </a:solidFill>
        </p:spPr>
      </p:sp>
      <p:sp>
        <p:nvSpPr>
          <p:cNvPr id="12" name="badge-2">
            <a:extLst xmlns:a="http://schemas.openxmlformats.org/drawingml/2006/main">
              <a:ext uri="{FF2B5EF4-FFF2-40B4-BE49-F238E27FC236}">
                <a16:creationId xmlns:a16="http://schemas.microsoft.com/office/drawing/2014/main" id="{13C97689-9640-46FC-868A-8B1317EA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664" y="5293995"/>
            <a:ext cx="429768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E8B24D-DE45-4C21-A3DB-A89C5352E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391150"/>
            <a:ext cx="76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2A9A0C-09AA-482D-8DFC-149EBE48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848350"/>
            <a:ext cx="2933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Risk sidecar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9383B5-044B-449D-80CE-1EE8A88F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6381750"/>
            <a:ext cx="29337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C6F7EE"/>
                </a:solidFill>
              </a:defRPr>
            </a:pPr>
            <a:r>
              <a:rPr sz="1800">
                <a:solidFill>
                  <a:srgbClr val="C6F7EE"/>
                </a:solidFill>
              </a:rPr>
              <a:t>Flags insulin, oxygen, pregnancy, floodwater, rumors, language access.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1B59CF-D5D3-44A4-9640-58576603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981700"/>
            <a:ext cx="4953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C857"/>
                </a:solidFill>
              </a:defRPr>
            </a:pPr>
            <a:r>
              <a:rPr sz="3450" b="1">
                <a:solidFill>
                  <a:srgbClr val="FFC857"/>
                </a:solidFill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8554B6-C64A-43BE-B3FF-7F9FFBF1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3209" y="4248150"/>
            <a:ext cx="3764439" cy="4000500"/>
          </a:xfrm>
          <a:prstGeom xmlns:a="http://schemas.openxmlformats.org/drawingml/2006/main" prst="roundRect">
            <a:avLst>
              <a:gd name="adj" fmla="val 1012"/>
            </a:avLst>
          </a:prstGeom>
          <a:solidFill xmlns:a="http://schemas.openxmlformats.org/drawingml/2006/main">
            <a:srgbClr val="332740"/>
          </a:solidFill>
        </p:spPr>
      </p:sp>
      <p:sp>
        <p:nvSpPr>
          <p:cNvPr id="18" name="badge-3">
            <a:extLst xmlns:a="http://schemas.openxmlformats.org/drawingml/2006/main">
              <a:ext uri="{FF2B5EF4-FFF2-40B4-BE49-F238E27FC236}">
                <a16:creationId xmlns:a16="http://schemas.microsoft.com/office/drawing/2014/main" id="{098743DC-294E-4171-8FF2-C15AC59D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8959" y="5293995"/>
            <a:ext cx="429768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A7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56D98D-06B9-4436-8261-647F4094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391150"/>
            <a:ext cx="76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91A0CB-6D14-489F-B328-31040C87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848350"/>
            <a:ext cx="32004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Gemma 4 answer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8E3E0B-EAF1-4A91-9E2C-B828E1FA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81750"/>
            <a:ext cx="32004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6DEFF"/>
                </a:solidFill>
              </a:defRPr>
            </a:pPr>
            <a:r>
              <a:rPr sz="1800">
                <a:solidFill>
                  <a:srgbClr val="E6DEFF"/>
                </a:solidFill>
              </a:rPr>
              <a:t>Structured plan, clarifying questions, and visible safety boundary.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E80CDC-7BCA-46D1-8A5F-5059F706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5981700"/>
            <a:ext cx="4953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C857"/>
                </a:solidFill>
              </a:defRPr>
            </a:pPr>
            <a:r>
              <a:rPr sz="3450" b="1">
                <a:solidFill>
                  <a:srgbClr val="FFC857"/>
                </a:solidFill>
              </a:rPr>
              <a:t>-&gt;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2F770E-DACD-406B-ACF4-BCA63BD6F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5848" y="4248150"/>
            <a:ext cx="3543002" cy="4000500"/>
          </a:xfrm>
          <a:prstGeom xmlns:a="http://schemas.openxmlformats.org/drawingml/2006/main" prst="roundRect">
            <a:avLst>
              <a:gd name="adj" fmla="val 1075"/>
            </a:avLst>
          </a:prstGeom>
          <a:solidFill xmlns:a="http://schemas.openxmlformats.org/drawingml/2006/main">
            <a:srgbClr val="203017"/>
          </a:solidFill>
        </p:spPr>
      </p:sp>
      <p:sp>
        <p:nvSpPr>
          <p:cNvPr id="24" name="badge-4">
            <a:extLst xmlns:a="http://schemas.openxmlformats.org/drawingml/2006/main">
              <a:ext uri="{FF2B5EF4-FFF2-40B4-BE49-F238E27FC236}">
                <a16:creationId xmlns:a16="http://schemas.microsoft.com/office/drawing/2014/main" id="{4833D977-E3AF-4655-9E3E-E6B62984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1598" y="5293995"/>
            <a:ext cx="429768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2D572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D9F9F0-FA9E-4110-A4BA-AF9CFB44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0" y="5391150"/>
            <a:ext cx="76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3D38AC-581D-4F41-BD59-897E5403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1300" y="5848350"/>
            <a:ext cx="29718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Responder handoff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D9A4DF-5B89-451D-897F-F0B891A2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1300" y="6381750"/>
            <a:ext cx="29718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D9F9D7"/>
                </a:solidFill>
              </a:defRPr>
            </a:pPr>
            <a:r>
              <a:rPr sz="1800">
                <a:solidFill>
                  <a:srgbClr val="D9F9D7"/>
                </a:solidFill>
              </a:rPr>
              <a:t>A safer next-action note for human teams, not a replacement for them.</a:t>
            </a:r>
          </a:p>
        </p:txBody>
      </p:sp>
    </p:spTree>
    <p:extLst>
      <p:ext uri="{BB962C8B-B14F-4D97-AF65-F5344CB8AC3E}">
        <p14:creationId xmlns:p14="http://schemas.microsoft.com/office/powerpoint/2010/main" val="19442533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12B4F31-F0F3-4B4E-89B8-846CFCF7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AFEC23-00E9-4506-9E59-7E16FB9A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A5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F788BE-EE3F-4429-87AA-AEFB4C48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66750"/>
            <a:ext cx="7048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LIVE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91BDD3-0A5C-4D86-896C-7DF3B2744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6248400" cy="2343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10151F"/>
                </a:solidFill>
              </a:defRPr>
            </a:pPr>
            <a:r>
              <a:rPr sz="5100" b="1">
                <a:solidFill>
                  <a:srgbClr val="10151F"/>
                </a:solidFill>
              </a:rPr>
              <a:t>Judges can poke the safety behavior directly.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A8E57-8E18-4360-A1E9-525B133F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52850"/>
            <a:ext cx="6477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D6470"/>
                </a:solidFill>
              </a:defRPr>
            </a:pPr>
            <a:r>
              <a:rPr sz="2025">
                <a:solidFill>
                  <a:srgbClr val="5D6470"/>
                </a:solidFill>
              </a:rPr>
              <a:t>The public demo exposes the same seven-section output used in local validation, including language support and handoff.</a:t>
            </a:r>
          </a:p>
        </p:txBody>
      </p:sp>
      <p:sp>
        <p:nvSpPr>
          <p:cNvPr id="6" name="badge-public-demo">
            <a:extLst xmlns:a="http://schemas.openxmlformats.org/drawingml/2006/main">
              <a:ext uri="{FF2B5EF4-FFF2-40B4-BE49-F238E27FC236}">
                <a16:creationId xmlns:a16="http://schemas.microsoft.com/office/drawing/2014/main" id="{46C94D3E-57D7-45EB-9321-EE836EA0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223581" cy="5829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EA5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AD6ADA-B6E0-4BE0-8E91-E68564D5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29150"/>
            <a:ext cx="876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public demo</a:t>
            </a:r>
          </a:p>
        </p:txBody>
      </p:sp>
      <p:sp>
        <p:nvSpPr>
          <p:cNvPr id="8" name="badge-public-code">
            <a:extLst xmlns:a="http://schemas.openxmlformats.org/drawingml/2006/main">
              <a:ext uri="{FF2B5EF4-FFF2-40B4-BE49-F238E27FC236}">
                <a16:creationId xmlns:a16="http://schemas.microsoft.com/office/drawing/2014/main" id="{1B449D45-5359-4636-94A7-A50F9DA8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131" y="4552950"/>
            <a:ext cx="1155001" cy="5829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E4B11A-2C7A-4C96-BD45-DB0C0EBB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29150"/>
            <a:ext cx="800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public code</a:t>
            </a:r>
          </a:p>
        </p:txBody>
      </p:sp>
      <p:sp>
        <p:nvSpPr>
          <p:cNvPr id="10" name="badge-video-pitch">
            <a:extLst xmlns:a="http://schemas.openxmlformats.org/drawingml/2006/main">
              <a:ext uri="{FF2B5EF4-FFF2-40B4-BE49-F238E27FC236}">
                <a16:creationId xmlns:a16="http://schemas.microsoft.com/office/drawing/2014/main" id="{9C0C0E55-CBE3-4A56-B641-D58B93CC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433" y="4552950"/>
            <a:ext cx="1130522" cy="5829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C4783-14EB-418C-89A7-E891A8F2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29150"/>
            <a:ext cx="800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video pitch</a:t>
            </a:r>
          </a:p>
        </p:txBody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E534D0E1-682F-4EDA-A8AE-83A10E5D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48800"/>
            <a:ext cx="6248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08A"/>
                </a:solidFill>
              </a:defRPr>
            </a:pPr>
            <a:r>
              <a:rPr sz="1125">
                <a:solidFill>
                  <a:srgbClr val="7A808A"/>
                </a:solidFill>
              </a:rPr>
              <a:t>Demo: huier5635-cmd.github.io/resilience-copilot-gemma4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310317-E98A-46B7-A58D-4B59E6E8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910" y="2047875"/>
            <a:ext cx="9772841" cy="6191250"/>
          </a:xfrm>
          <a:prstGeom xmlns:a="http://schemas.openxmlformats.org/drawingml/2006/main" prst="roundRect">
            <a:avLst>
              <a:gd name="adj" fmla="val 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DD0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a131b43ea421a"/>
          <a:stretch xmlns:a="http://schemas.openxmlformats.org/drawingml/2006/main"/>
        </p:blipFill>
        <p:spPr>
          <a:xfrm xmlns:a="http://schemas.openxmlformats.org/drawingml/2006/main">
            <a:off x="8994174" y="2143125"/>
            <a:ext cx="7100312" cy="6000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75400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B61F127-2FD0-45EE-9E64-F7577F98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51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D73B8-B637-4D82-BABE-DAB5370C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D1BE14-D957-42E0-B117-8645B1FC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576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SAFETY SIDECAR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B3B61F-DD5A-482F-B755-B00C86D2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6896100" cy="1657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Small detector, big behavioral change.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75169-1CA0-460C-B000-8F854E9A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81700"/>
            <a:ext cx="6515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CBD5E1"/>
                </a:solidFill>
              </a:defRPr>
            </a:pPr>
            <a:r>
              <a:rPr sz="2100">
                <a:solidFill>
                  <a:srgbClr val="CBD5E1"/>
                </a:solidFill>
              </a:rPr>
              <a:t>Original branch: expand the sidecar beyond demo cases into edge cases that generic assistants often flatten.</a:t>
            </a:r>
          </a:p>
        </p:txBody>
      </p:sp>
      <p:sp>
        <p:nvSpPr>
          <p:cNvPr id="6" name="badge-children-cold-exposure">
            <a:extLst xmlns:a="http://schemas.openxmlformats.org/drawingml/2006/main">
              <a:ext uri="{FF2B5EF4-FFF2-40B4-BE49-F238E27FC236}">
                <a16:creationId xmlns:a16="http://schemas.microsoft.com/office/drawing/2014/main" id="{E98239F8-4F45-4B01-A85C-33E06F8A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085" y="666750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A66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031FED-6EF5-40BA-B05E-CD0A5DB8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619250"/>
            <a:ext cx="1600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children cold exposure</a:t>
            </a:r>
          </a:p>
        </p:txBody>
      </p:sp>
      <p:sp>
        <p:nvSpPr>
          <p:cNvPr id="8" name="badge-medication-interruption">
            <a:extLst xmlns:a="http://schemas.openxmlformats.org/drawingml/2006/main">
              <a:ext uri="{FF2B5EF4-FFF2-40B4-BE49-F238E27FC236}">
                <a16:creationId xmlns:a16="http://schemas.microsoft.com/office/drawing/2014/main" id="{227922DD-DC49-4A11-9F91-B8ACD4C2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7717" y="666750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0B39FD-8610-4BD1-9DFE-BDC4B5B9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63700" y="1619250"/>
            <a:ext cx="1714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medication interruption</a:t>
            </a:r>
          </a:p>
        </p:txBody>
      </p:sp>
      <p:sp>
        <p:nvSpPr>
          <p:cNvPr id="10" name="badge-pregnancy-insulin">
            <a:extLst xmlns:a="http://schemas.openxmlformats.org/drawingml/2006/main">
              <a:ext uri="{FF2B5EF4-FFF2-40B4-BE49-F238E27FC236}">
                <a16:creationId xmlns:a16="http://schemas.microsoft.com/office/drawing/2014/main" id="{7C7F3941-522A-43D3-BAC9-C91F990A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085" y="2957513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A7FF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1E7F01-E587-4DBC-BFD2-9BAD4CF4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790950"/>
            <a:ext cx="1371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pregnancy + insulin</a:t>
            </a:r>
          </a:p>
        </p:txBody>
      </p:sp>
      <p:sp>
        <p:nvSpPr>
          <p:cNvPr id="12" name="badge-oxygen-power-loss">
            <a:extLst xmlns:a="http://schemas.openxmlformats.org/drawingml/2006/main">
              <a:ext uri="{FF2B5EF4-FFF2-40B4-BE49-F238E27FC236}">
                <a16:creationId xmlns:a16="http://schemas.microsoft.com/office/drawing/2014/main" id="{235E1DF7-D0C4-4351-9D3F-0E874145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7717" y="2957513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EA5F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B26979-D4E2-40C7-ABF7-B2B7E183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3905250"/>
            <a:ext cx="1295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oxygen power loss</a:t>
            </a:r>
          </a:p>
        </p:txBody>
      </p:sp>
      <p:sp>
        <p:nvSpPr>
          <p:cNvPr id="14" name="badge-language-access-barrier">
            <a:extLst xmlns:a="http://schemas.openxmlformats.org/drawingml/2006/main">
              <a:ext uri="{FF2B5EF4-FFF2-40B4-BE49-F238E27FC236}">
                <a16:creationId xmlns:a16="http://schemas.microsoft.com/office/drawing/2014/main" id="{9BA6AA05-E0F4-4DDC-B747-2ECA23412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085" y="5248275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1162E7-BAEB-4E1F-B85D-8D6AABD9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6191250"/>
            <a:ext cx="1676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language access barrier</a:t>
            </a:r>
          </a:p>
        </p:txBody>
      </p:sp>
      <p:sp>
        <p:nvSpPr>
          <p:cNvPr id="16" name="badge-unverified-shelter-rumor">
            <a:extLst xmlns:a="http://schemas.openxmlformats.org/drawingml/2006/main">
              <a:ext uri="{FF2B5EF4-FFF2-40B4-BE49-F238E27FC236}">
                <a16:creationId xmlns:a16="http://schemas.microsoft.com/office/drawing/2014/main" id="{DC93771D-EA0B-4E3B-B1E8-76528F92C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7717" y="5248275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2D572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8AE17-445B-42F3-9084-9B9519C9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44650" y="6191250"/>
            <a:ext cx="1752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unverified shelter rumor</a:t>
            </a:r>
          </a:p>
        </p:txBody>
      </p:sp>
      <p:sp>
        <p:nvSpPr>
          <p:cNvPr id="18" name="badge-floodwater-hazard">
            <a:extLst xmlns:a="http://schemas.openxmlformats.org/drawingml/2006/main">
              <a:ext uri="{FF2B5EF4-FFF2-40B4-BE49-F238E27FC236}">
                <a16:creationId xmlns:a16="http://schemas.microsoft.com/office/drawing/2014/main" id="{AC81040C-5A96-4DA8-B6FA-324678420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085" y="7539038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D4D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8D7CAC-AD17-43B9-B2F7-3982FBBE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8477250"/>
            <a:ext cx="1295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floodwater hazard</a:t>
            </a:r>
          </a:p>
        </p:txBody>
      </p:sp>
      <p:sp>
        <p:nvSpPr>
          <p:cNvPr id="20" name="badge-responder-escalation">
            <a:extLst xmlns:a="http://schemas.openxmlformats.org/drawingml/2006/main">
              <a:ext uri="{FF2B5EF4-FFF2-40B4-BE49-F238E27FC236}">
                <a16:creationId xmlns:a16="http://schemas.microsoft.com/office/drawing/2014/main" id="{B6078D25-9C14-4976-B8B4-04E12DFB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7717" y="7539038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AF0F34-8725-4BDB-A3C4-C3BA22DC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8477250"/>
            <a:ext cx="14859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responder escalation</a:t>
            </a:r>
          </a:p>
        </p:txBody>
      </p:sp>
    </p:spTree>
    <p:extLst>
      <p:ext uri="{BB962C8B-B14F-4D97-AF65-F5344CB8AC3E}">
        <p14:creationId xmlns:p14="http://schemas.microsoft.com/office/powerpoint/2010/main" val="45539258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1DAB8DE-1346-4DCE-8E65-997CE9C44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AFE63F-7EBA-437A-89D3-9EF0F61B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239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D572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2FFAB-3E34-4117-B231-102ABA0C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666750"/>
            <a:ext cx="781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VALIDATION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FE7818-652B-4705-9671-4D5FD38C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75" b="1">
                <a:solidFill>
                  <a:srgbClr val="10151F"/>
                </a:solidFill>
              </a:defRPr>
            </a:pPr>
            <a:r>
              <a:rPr sz="4875" b="1">
                <a:solidFill>
                  <a:srgbClr val="10151F"/>
                </a:solidFill>
              </a:rPr>
              <a:t>Local gates prove the exact claims in the writeup.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400FC5-FD5D-4162-8F7C-1DBBE573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16611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D6470"/>
                </a:solidFill>
              </a:defRPr>
            </a:pPr>
            <a:r>
              <a:rPr sz="1950">
                <a:solidFill>
                  <a:srgbClr val="5D6470"/>
                </a:solidFill>
              </a:rPr>
              <a:t>No hidden dataset exists for this hackathon, so the validation is scenario-based and leakage-aware.</a:t>
            </a:r>
          </a:p>
        </p:txBody>
      </p:sp>
      <p:graphicFrame>
        <p:nvGraphicFramePr>
          <p:cNvPr id="6" name="validation-chart"/>
          <p:cNvGraphicFramePr/>
          <p:nvPr/>
        </p:nvGraphicFramePr>
        <p:xfrm>
          <a:off xmlns:a="http://schemas.openxmlformats.org/drawingml/2006/main" x="838200" y="2327910"/>
          <a:ext xmlns:a="http://schemas.openxmlformats.org/drawingml/2006/main" cx="7887653" cy="68732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b44abe68c3a4d15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91095-ACDE-462B-9324-EBAF50F9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82105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4EA5FF"/>
                </a:solidFill>
              </a:defRPr>
            </a:pPr>
            <a:r>
              <a:rPr sz="4800" b="1">
                <a:solidFill>
                  <a:srgbClr val="4EA5FF"/>
                </a:solidFill>
              </a:rPr>
              <a:t>2/2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6C4E62-CA16-4E56-8F0A-08950EDF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10050"/>
            <a:ext cx="8210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demo cases: presentable examples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C2F03-CAE6-4800-9CBF-85EF0926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276850"/>
            <a:ext cx="82105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72D572"/>
                </a:solidFill>
              </a:defRPr>
            </a:pPr>
            <a:r>
              <a:rPr sz="4800" b="1">
                <a:solidFill>
                  <a:srgbClr val="72D572"/>
                </a:solidFill>
              </a:rPr>
              <a:t>2/2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9836F-3828-4503-A389-FE173AC2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8210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holdout cases: not baked into prompt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5D28A0-0C15-4B5B-945A-8B3FF3C4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086600"/>
            <a:ext cx="82105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F5A66"/>
                </a:solidFill>
              </a:defRPr>
            </a:pPr>
            <a:r>
              <a:rPr sz="4800" b="1">
                <a:solidFill>
                  <a:srgbClr val="FF5A66"/>
                </a:solidFill>
              </a:rPr>
              <a:t>5/5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67A56C-55CB-451E-90C9-4E9D8F39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829550"/>
            <a:ext cx="8210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stress cases: edge-risk checks</a:t>
            </a:r>
          </a:p>
        </p:txBody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C818BD44-32A9-4799-A548-2BBC163C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44880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08A"/>
                </a:solidFill>
              </a:defRPr>
            </a:pPr>
            <a:r>
              <a:rPr sz="1125">
                <a:solidFill>
                  <a:srgbClr val="7A808A"/>
                </a:solidFill>
              </a:rPr>
              <a:t>Local command: python scripts\run_local_validation.py</a:t>
            </a:r>
          </a:p>
        </p:txBody>
      </p:sp>
    </p:spTree>
    <p:extLst>
      <p:ext uri="{BB962C8B-B14F-4D97-AF65-F5344CB8AC3E}">
        <p14:creationId xmlns:p14="http://schemas.microsoft.com/office/powerpoint/2010/main" val="19240525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7511343-61BE-428E-824E-5BFE37B7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8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2B6A8-6F8F-4C22-954D-9789749C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239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66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7D708B-3775-4D76-A29B-D40D1E6B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666750"/>
            <a:ext cx="1314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GEMMA 4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BF3C4A-6376-4E54-ABFA-462CB2A8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66800"/>
            <a:ext cx="6591300" cy="2266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10151F"/>
                </a:solidFill>
              </a:defRPr>
            </a:pPr>
            <a:r>
              <a:rPr sz="4950" b="1">
                <a:solidFill>
                  <a:srgbClr val="10151F"/>
                </a:solidFill>
              </a:rPr>
              <a:t>The model claim is tied to a Kaggle Notebook run.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7CE0B9-73EA-404F-A1AD-81388BD3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63436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D6470"/>
                </a:solidFill>
              </a:defRPr>
            </a:pPr>
            <a:r>
              <a:rPr sz="2025">
                <a:solidFill>
                  <a:srgbClr val="5D6470"/>
                </a:solidFill>
              </a:rPr>
              <a:t>Official Kaggle model resource, logged environment, prompt, response, latency, and generated token count.</a:t>
            </a:r>
          </a:p>
        </p:txBody>
      </p:sp>
      <p:sp>
        <p:nvSpPr>
          <p:cNvPr id="6" name="badge-tesla-t4">
            <a:extLst xmlns:a="http://schemas.openxmlformats.org/drawingml/2006/main">
              <a:ext uri="{FF2B5EF4-FFF2-40B4-BE49-F238E27FC236}">
                <a16:creationId xmlns:a16="http://schemas.microsoft.com/office/drawing/2014/main" id="{05FC7A06-3BEC-45AA-A33D-90EA270B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054340"/>
            <a:ext cx="905066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51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51916C-156B-47E5-8EAE-D18ED872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8153400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Tesla T4</a:t>
            </a:r>
          </a:p>
        </p:txBody>
      </p:sp>
      <p:sp>
        <p:nvSpPr>
          <p:cNvPr id="8" name="badge-160-new-tokens">
            <a:extLst xmlns:a="http://schemas.openxmlformats.org/drawingml/2006/main">
              <a:ext uri="{FF2B5EF4-FFF2-40B4-BE49-F238E27FC236}">
                <a16:creationId xmlns:a16="http://schemas.microsoft.com/office/drawing/2014/main" id="{E977EE89-0837-4E34-B956-68D02842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545830"/>
            <a:ext cx="1460754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15CCD2-42EF-4C70-836C-F8A4EE29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8648700"/>
            <a:ext cx="11049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160 new tokens</a:t>
            </a:r>
          </a:p>
        </p:txBody>
      </p:sp>
      <p:sp>
        <p:nvSpPr>
          <p:cNvPr id="10" name="badge-18-014s-recorded-latency">
            <a:extLst xmlns:a="http://schemas.openxmlformats.org/drawingml/2006/main">
              <a:ext uri="{FF2B5EF4-FFF2-40B4-BE49-F238E27FC236}">
                <a16:creationId xmlns:a16="http://schemas.microsoft.com/office/drawing/2014/main" id="{5D4E2D87-8BB5-4C2C-B476-24B8CDD5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037320"/>
            <a:ext cx="2120646" cy="5829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6362F-2D61-47B3-BA00-D22692A6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9124950"/>
            <a:ext cx="17907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18.014s recorded latency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D3DB13-5956-4E2E-BF6F-873B5086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2423" y="2047875"/>
            <a:ext cx="9497378" cy="6191250"/>
          </a:xfrm>
          <a:prstGeom xmlns:a="http://schemas.openxmlformats.org/drawingml/2006/main" prst="roundRect">
            <a:avLst>
              <a:gd name="adj" fmla="val 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DD0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29c33cd7741e6"/>
          <a:stretch xmlns:a="http://schemas.openxmlformats.org/drawingml/2006/main"/>
        </p:blipFill>
        <p:spPr>
          <a:xfrm xmlns:a="http://schemas.openxmlformats.org/drawingml/2006/main">
            <a:off x="8047673" y="2933117"/>
            <a:ext cx="9306878" cy="442076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71924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65AD927D-86C2-4C56-B959-8FDCC794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51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9BB0A-D7BD-4C50-ACAF-8A730154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E2C5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B79A20-DED8-4C17-81EA-EAADBD48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723900"/>
            <a:ext cx="800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PRIZE 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9C118D-62F0-4006-BD44-265CC8A9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123950"/>
            <a:ext cx="121729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FFFFF"/>
                </a:solidFill>
              </a:defRPr>
            </a:pPr>
            <a:r>
              <a:rPr sz="5700" b="1">
                <a:solidFill>
                  <a:srgbClr val="FFFFFF"/>
                </a:solidFill>
              </a:rPr>
              <a:t>Safer handoffs, faster volunteers, clearer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61BA29-D0D5-4A8B-AE3E-F789052A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67050"/>
            <a:ext cx="11715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6DEE9"/>
                </a:solidFill>
              </a:defRPr>
            </a:pPr>
            <a:r>
              <a:rPr sz="2250">
                <a:solidFill>
                  <a:srgbClr val="D6DEE9"/>
                </a:solidFill>
              </a:rPr>
              <a:t>This is deliberately narrow: one crisis workflow, visible safety constraints, public evidence, and a clear path to stronger multilingual Gemma 4 generation.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F2DBD8-B848-4AAB-90F5-1212224C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0220"/>
            <a:ext cx="5334000" cy="200025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1B2432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FC54CD-8BA7-40A3-B799-D4D356D9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29350"/>
            <a:ext cx="4838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DE2C5"/>
                </a:solidFill>
              </a:defRPr>
            </a:pPr>
            <a:r>
              <a:rPr sz="2400" b="1">
                <a:solidFill>
                  <a:srgbClr val="2DE2C5"/>
                </a:solidFill>
              </a:rPr>
              <a:t>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B36B39-A834-4E5D-A8DD-5B975791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05600"/>
            <a:ext cx="4838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huier5635-cmd.github.io/resilience-copilot-gemma4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FA3228-773D-4FB2-9A04-CA1B82C4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570220"/>
            <a:ext cx="5334000" cy="200025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1B2432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3EC04C-AC5E-4219-82A4-D4A426A1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6229350"/>
            <a:ext cx="4838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C857"/>
                </a:solidFill>
              </a:defRPr>
            </a:pPr>
            <a:r>
              <a:rPr sz="2400" b="1">
                <a:solidFill>
                  <a:srgbClr val="FFC857"/>
                </a:solidFill>
              </a:rPr>
              <a:t>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09B85-AB31-4FAB-930B-C6EEA01C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6705600"/>
            <a:ext cx="4838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github.com/huier5635-cmd/resilience-copilot-gemma4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9C1AE2-B066-4C38-8C94-D7130CF9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5570220"/>
            <a:ext cx="5334000" cy="200025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1B2432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EAB026-B352-4A62-9648-A3A77CA3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6210300"/>
            <a:ext cx="4838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5A66"/>
                </a:solidFill>
              </a:defRPr>
            </a:pPr>
            <a:r>
              <a:rPr sz="2400" b="1">
                <a:solidFill>
                  <a:srgbClr val="FF5A66"/>
                </a:solidFill>
              </a:rPr>
              <a:t>Video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E6D789-6E0C-4CCE-BC47-95EA30D1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6686550"/>
            <a:ext cx="4838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youtu.be/CmqCV8Ic9cY</a:t>
            </a:r>
          </a:p>
        </p:txBody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3605C099-5D30-435F-8F89-CDF07109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9391650"/>
            <a:ext cx="164973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08A"/>
                </a:solidFill>
              </a:defRPr>
            </a:pPr>
            <a:r>
              <a:rPr sz="1125">
                <a:solidFill>
                  <a:srgbClr val="7A808A"/>
                </a:solidFill>
              </a:rPr>
              <a:t>Submitted writeup: kaggle.com/competitions/gemma-4-good-hackathon/writeups/new-writeup-1778665719423</a:t>
            </a:r>
          </a:p>
        </p:txBody>
      </p:sp>
    </p:spTree>
    <p:extLst>
      <p:ext uri="{BB962C8B-B14F-4D97-AF65-F5344CB8AC3E}">
        <p14:creationId xmlns:p14="http://schemas.microsoft.com/office/powerpoint/2010/main" val="16598340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2026-05-13T22:08:39.7330000Z</dcterms:created>
  <dcterms:modified xsi:type="dcterms:W3CDTF">2026-05-13T22:08:39.7330000Z</dcterms:modified>
</coreProperties>
</file>