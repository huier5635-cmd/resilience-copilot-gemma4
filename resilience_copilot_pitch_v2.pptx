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slides/charts/chart1.xml" ContentType="application/vnd.openxmlformats-officedocument.drawingml.chart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611a146ae1e04772" /><Relationship Type="http://schemas.openxmlformats.org/officeDocument/2006/relationships/extended-properties" Target="/docProps/app.xml" Id="R385cd4ad2d7a4290" /><Relationship Type="http://schemas.openxmlformats.org/officeDocument/2006/relationships/officeDocument" Target="/ppt/presentation.xml" Id="R3faeb079a59a43bd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670423d568984d41"/>
  </p:sldMasterIdLst>
  <p:notesMasterIdLst>
    <p:notesMasterId xmlns:r="http://schemas.openxmlformats.org/officeDocument/2006/relationships" r:id="R37583221485748e3"/>
  </p:notesMasterIdLst>
  <p:sldIdLst>
    <p:sldId xmlns:r="http://schemas.openxmlformats.org/officeDocument/2006/relationships" id="256" r:id="R8e6eaa5862574a6c"/>
    <p:sldId xmlns:r="http://schemas.openxmlformats.org/officeDocument/2006/relationships" id="257" r:id="R1f9e71e17cee48e2"/>
    <p:sldId xmlns:r="http://schemas.openxmlformats.org/officeDocument/2006/relationships" id="258" r:id="R33c189bda9de46a6"/>
    <p:sldId xmlns:r="http://schemas.openxmlformats.org/officeDocument/2006/relationships" id="259" r:id="R8ad86272ab004946"/>
    <p:sldId xmlns:r="http://schemas.openxmlformats.org/officeDocument/2006/relationships" id="260" r:id="R1b2ad63b49794383"/>
    <p:sldId xmlns:r="http://schemas.openxmlformats.org/officeDocument/2006/relationships" id="261" r:id="Rb00891bbc2ca400d"/>
    <p:sldId xmlns:r="http://schemas.openxmlformats.org/officeDocument/2006/relationships" id="262" r:id="R6ff711d11449412c"/>
    <p:sldId xmlns:r="http://schemas.openxmlformats.org/officeDocument/2006/relationships" id="263" r:id="Rf3edcbac4908406c"/>
  </p:sldIdLst>
  <p:sldSz cx="18288000" cy="10287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70423d568984d41" /><Relationship Type="http://schemas.openxmlformats.org/officeDocument/2006/relationships/theme" Target="/ppt/theme/theme1.xml" Id="R037e5c6fa34c4850" /><Relationship Type="http://schemas.openxmlformats.org/officeDocument/2006/relationships/notesMaster" Target="/ppt/notesMasters/notesMaster1.xml" Id="R37583221485748e3" /><Relationship Type="http://schemas.openxmlformats.org/officeDocument/2006/relationships/presProps" Target="/ppt/presProps.xml" Id="R22e4c3bb69c04e21" /><Relationship Type="http://schemas.openxmlformats.org/officeDocument/2006/relationships/viewProps" Target="/ppt/viewProps.xml" Id="R8b1fd09c7d3d4144" /><Relationship Type="http://schemas.openxmlformats.org/officeDocument/2006/relationships/tableStyles" Target="/ppt/tableStyles.xml" Id="R348d97651acc4ecd" /><Relationship Type="http://schemas.openxmlformats.org/officeDocument/2006/relationships/slide" Target="/ppt/slides/slide1.xml" Id="R8e6eaa5862574a6c" /><Relationship Type="http://schemas.openxmlformats.org/officeDocument/2006/relationships/slide" Target="/ppt/slides/slide2.xml" Id="R1f9e71e17cee48e2" /><Relationship Type="http://schemas.openxmlformats.org/officeDocument/2006/relationships/slide" Target="/ppt/slides/slide3.xml" Id="R33c189bda9de46a6" /><Relationship Type="http://schemas.openxmlformats.org/officeDocument/2006/relationships/slide" Target="/ppt/slides/slide4.xml" Id="R8ad86272ab004946" /><Relationship Type="http://schemas.openxmlformats.org/officeDocument/2006/relationships/slide" Target="/ppt/slides/slide5.xml" Id="R1b2ad63b49794383" /><Relationship Type="http://schemas.openxmlformats.org/officeDocument/2006/relationships/slide" Target="/ppt/slides/slide6.xml" Id="Rb00891bbc2ca400d" /><Relationship Type="http://schemas.openxmlformats.org/officeDocument/2006/relationships/slide" Target="/ppt/slides/slide7.xml" Id="R6ff711d11449412c" /><Relationship Type="http://schemas.openxmlformats.org/officeDocument/2006/relationships/slide" Target="/ppt/slides/slide8.xml" Id="Rf3edcbac4908406c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bb4bc61e1f544593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b7deab2377d74e7d" /><Relationship Type="http://schemas.openxmlformats.org/officeDocument/2006/relationships/notesMaster" Target="/ppt/notesMasters/notesMaster1.xml" Id="R24e9499ba34843a5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d26a3dc483f342a9" /><Relationship Type="http://schemas.openxmlformats.org/officeDocument/2006/relationships/notesMaster" Target="/ppt/notesMasters/notesMaster1.xml" Id="R5e339393b9bd46ac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db6e4ab29abb41ff" /><Relationship Type="http://schemas.openxmlformats.org/officeDocument/2006/relationships/notesMaster" Target="/ppt/notesMasters/notesMaster1.xml" Id="Ref4c6c925901476c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db2e593a786a42e7" /><Relationship Type="http://schemas.openxmlformats.org/officeDocument/2006/relationships/notesMaster" Target="/ppt/notesMasters/notesMaster1.xml" Id="Rbf3846d3059a4c8f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63caa898c63b4699" /><Relationship Type="http://schemas.openxmlformats.org/officeDocument/2006/relationships/notesMaster" Target="/ppt/notesMasters/notesMaster1.xml" Id="Rac41feb485b04f65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913e5ca9f16647e3" /><Relationship Type="http://schemas.openxmlformats.org/officeDocument/2006/relationships/notesMaster" Target="/ppt/notesMasters/notesMaster1.xml" Id="Rfb3796395a514d8a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b4de025f787b44d7" /><Relationship Type="http://schemas.openxmlformats.org/officeDocument/2006/relationships/notesMaster" Target="/ppt/notesMasters/notesMaster1.xml" Id="R4e0a21bbe62b4e55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26757f2a9a074197" /><Relationship Type="http://schemas.openxmlformats.org/officeDocument/2006/relationships/notesMaster" Target="/ppt/notesMasters/notesMaster1.xml" Id="R473809faae65498f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4a85ab3903b45b8" /></Relationships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theme/theme1.xml" Id="Rf11c83aeac724814" /><Relationship Type="http://schemas.openxmlformats.org/officeDocument/2006/relationships/slideLayout" Target="/ppt/slideLayouts/slideLayout2.xml" Id="Rfce293e6cf694d6e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ce293e6cf694d6e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557dc87428641ac" /><Relationship Type="http://schemas.openxmlformats.org/officeDocument/2006/relationships/image" Target="/ppt/media/image.png" Id="R9ca9ae2db8cb486b" /><Relationship Type="http://schemas.openxmlformats.org/officeDocument/2006/relationships/notesSlide" Target="/ppt/notesSlides/notesSlide1.xml" Id="R7bed6cebdb2c4e59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19fc0a6b58c46b7" /><Relationship Type="http://schemas.openxmlformats.org/officeDocument/2006/relationships/notesSlide" Target="/ppt/notesSlides/notesSlide2.xml" Id="Rbd417d12712c492e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e343a64806f4d07" /><Relationship Type="http://schemas.openxmlformats.org/officeDocument/2006/relationships/notesSlide" Target="/ppt/notesSlides/notesSlide3.xml" Id="Rf0c65382ed2d4279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cae2a764af5469e" /><Relationship Type="http://schemas.openxmlformats.org/officeDocument/2006/relationships/image" Target="/ppt/media/image2.png" Id="R040fa328b7b1441b" /><Relationship Type="http://schemas.openxmlformats.org/officeDocument/2006/relationships/notesSlide" Target="/ppt/notesSlides/notesSlide4.xml" Id="R1f7f0fbbcb414ddc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117dad561d4489a" /><Relationship Type="http://schemas.openxmlformats.org/officeDocument/2006/relationships/notesSlide" Target="/ppt/notesSlides/notesSlide5.xml" Id="Rdfd9c3ac67154215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44a0429a71344f4" /><Relationship Type="http://schemas.openxmlformats.org/officeDocument/2006/relationships/chart" Target="/ppt/slides/charts/chart1.xml" Id="Rcb02850fae5c4309" /><Relationship Type="http://schemas.openxmlformats.org/officeDocument/2006/relationships/notesSlide" Target="/ppt/notesSlides/notesSlide6.xml" Id="R23a7f4c062564cbf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9f27c0967224f87" /><Relationship Type="http://schemas.openxmlformats.org/officeDocument/2006/relationships/image" Target="/ppt/media/image3.png" Id="R84dca1ade9054ba0" /><Relationship Type="http://schemas.openxmlformats.org/officeDocument/2006/relationships/notesSlide" Target="/ppt/notesSlides/notesSlide7.xml" Id="R2494c44bee5e445c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d0111f42eb54852" /><Relationship Type="http://schemas.openxmlformats.org/officeDocument/2006/relationships/notesSlide" Target="/ppt/notesSlides/notesSlide8.xml" Id="Re9e1d3a7d6dd4033" /></Relationships>
</file>

<file path=ppt/slides/charts/chart1.xml><?xml version="1.0" encoding="utf-8"?>
<c:chartSpace xmlns:c="http://schemas.openxmlformats.org/drawingml/2006/chart">
  <c:lang val="en-US"/>
  <c:roundedCorners val="0"/>
  <c:chart>
    <c:title>
      <c:tx>
        <c:rich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/>
              <a:t>Passes by validation split</a:t>
            </a:r>
          </a:p>
        </c:rich>
      </c:tx>
      <c:overlay val="0"/>
    </c:title>
    <c:autoTitleDeleted val="0"/>
    <c:plotArea>
      <c:layout/>
      <c:barChart>
        <c:barDir val="col"/>
        <c:varyColors val="0"/>
        <c:ser>
          <c:idx val="0"/>
          <c:order val="0"/>
          <c:tx>
            <c:v>Passed</c:v>
          </c:tx>
          <c:cat>
            <c:strLit>
              <c:ptCount val="3"/>
              <c:pt idx="0">
                <c:v>Demo</c:v>
              </c:pt>
              <c:pt idx="1">
                <c:v>Holdout</c:v>
              </c:pt>
              <c:pt idx="2">
                <c:v>Stress</c:v>
              </c:pt>
            </c:strLit>
          </c:cat>
          <c:val>
            <c:numLit>
              <c:formatCode/>
              <c:ptCount val="3"/>
              <c:pt idx="0">
                <c:v>2</c:v>
              </c:pt>
              <c:pt idx="1">
                <c:v>2</c:v>
              </c:pt>
              <c:pt idx="2">
                <c:v>4</c:v>
              </c:pt>
            </c:numLit>
          </c:val>
        </c:ser>
        <c:ser>
          <c:idx val="1"/>
          <c:order val="1"/>
          <c:tx>
            <c:v>Required</c:v>
          </c:tx>
          <c:cat>
            <c:strLit>
              <c:ptCount val="3"/>
              <c:pt idx="0">
                <c:v>Demo</c:v>
              </c:pt>
              <c:pt idx="1">
                <c:v>Holdout</c:v>
              </c:pt>
              <c:pt idx="2">
                <c:v>Stress</c:v>
              </c:pt>
            </c:strLit>
          </c:cat>
          <c:val>
            <c:numLit>
              <c:formatCode/>
              <c:ptCount val="3"/>
              <c:pt idx="0">
                <c:v>2</c:v>
              </c:pt>
              <c:pt idx="1">
                <c:v>2</c:v>
              </c:pt>
              <c:pt idx="2">
                <c:v>4</c:v>
              </c:pt>
            </c:numLit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crosses val="autoZero"/>
        <c:lblAlgn val="ctr"/>
        <c:lblOffset val="100"/>
        <c:noMultiLvlLbl val="0"/>
      </c:catAx>
      <c:valAx>
        <c:axId val="48672768"/>
        <c:scaling>
          <c:orientation val="minMax"/>
        </c:scaling>
        <c:delete val="1"/>
        <c:axPos val="l"/>
        <c:numFmt formatCode="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50112"/>
        <c:crosses val="autoZero"/>
        <c:crossBetween val="between"/>
      </c:valAx>
    </c:plotArea>
    <c:legend>
      <c:legendPos val="b"/>
      <c:overlay val="0"/>
    </c:legend>
    <c:plotVisOnly val="1"/>
  </c:chart>
</c:chartSpace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background">
            <a:extLst xmlns:a="http://schemas.openxmlformats.org/drawingml/2006/main">
              <a:ext uri="{FF2B5EF4-FFF2-40B4-BE49-F238E27FC236}">
                <a16:creationId xmlns:a16="http://schemas.microsoft.com/office/drawing/2014/main" id="{79DBBECB-A9FE-4B22-A7A5-0E95063582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51F"/>
          </a:solidFill>
        </p:spPr>
      </p:sp>
      <p:sp>
        <p:nvSpPr>
          <p:cNvPr id="2" name="badge-gemma-4-good">
            <a:extLst xmlns:a="http://schemas.openxmlformats.org/drawingml/2006/main">
              <a:ext uri="{FF2B5EF4-FFF2-40B4-BE49-F238E27FC236}">
                <a16:creationId xmlns:a16="http://schemas.microsoft.com/office/drawing/2014/main" id="{7E96B167-C822-425A-BA14-ABCB0EB38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086100"/>
            <a:ext cx="1562100" cy="3810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DE2C5"/>
          </a:solidFill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D3A1C0E-8C1A-4109-9F48-2A20A98EB8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181350"/>
            <a:ext cx="12192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0151F"/>
                </a:solidFill>
              </a:defRPr>
            </a:pPr>
            <a:r>
              <a:rPr sz="1350" b="1">
                <a:solidFill>
                  <a:srgbClr val="10151F"/>
                </a:solidFill>
              </a:rPr>
              <a:t>Gemma 4 Good</a:t>
            </a:r>
          </a:p>
        </p:txBody>
      </p:sp>
      <p:sp>
        <p:nvSpPr>
          <p:cNvPr id="4" name="badge-safety-first-crisis-ai">
            <a:extLst xmlns:a="http://schemas.openxmlformats.org/drawingml/2006/main">
              <a:ext uri="{FF2B5EF4-FFF2-40B4-BE49-F238E27FC236}">
                <a16:creationId xmlns:a16="http://schemas.microsoft.com/office/drawing/2014/main" id="{2EF0D4E0-E508-45D2-853F-C3550DAA9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3086100"/>
            <a:ext cx="2286000" cy="3810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5A66"/>
          </a:solidFill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F510F3B-D74C-44D1-A7F5-186C2B6C1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3181350"/>
            <a:ext cx="1924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Safety-first crisis AI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A33DAC2-D395-4CB9-BFE4-732F98987D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695700"/>
            <a:ext cx="8477250" cy="2571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8400" b="1">
                <a:solidFill>
                  <a:srgbClr val="FFFFFF"/>
                </a:solidFill>
              </a:defRPr>
            </a:pPr>
            <a:r>
              <a:rPr sz="8400" b="1">
                <a:solidFill>
                  <a:srgbClr val="FFFFFF"/>
                </a:solidFill>
              </a:rPr>
              <a:t>Resilience</a:t>
            </a:r>
          </a:p>
          <a:p xmlns:a="http://schemas.openxmlformats.org/drawingml/2006/main">
            <a:pPr>
              <a:defRPr sz="8400" b="1">
                <a:solidFill>
                  <a:srgbClr val="FFFFFF"/>
                </a:solidFill>
              </a:defRPr>
            </a:pPr>
            <a:r>
              <a:rPr sz="8400" b="1">
                <a:solidFill>
                  <a:srgbClr val="FFFFFF"/>
                </a:solidFill>
              </a:rPr>
              <a:t>Copilot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C9266C8-538B-4CA7-9C16-C95BAD10C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496050"/>
            <a:ext cx="6972300" cy="723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325">
                <a:solidFill>
                  <a:srgbClr val="DDE5EE"/>
                </a:solidFill>
              </a:defRPr>
            </a:pPr>
            <a:r>
              <a:rPr sz="2325">
                <a:solidFill>
                  <a:srgbClr val="DDE5EE"/>
                </a:solidFill>
              </a:rPr>
              <a:t>A field-ready assistant that turns messy disaster notes into safer responder handoffs.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DC6A4FC-66B9-4842-8798-14A8149ED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6460" y="666750"/>
            <a:ext cx="7673340" cy="7239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C857"/>
          </a:solidFill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278AAE6-3BA9-46F5-BF32-5F1C2072D9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39350" y="895350"/>
            <a:ext cx="71628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0151F"/>
                </a:solidFill>
              </a:defRPr>
            </a:pPr>
            <a:r>
              <a:rPr sz="1800" b="1">
                <a:solidFill>
                  <a:srgbClr val="10151F"/>
                </a:solidFill>
              </a:rPr>
              <a:t>rough note -&gt; risk sidecar -&gt; Gemma 4 response -&gt; responder handoff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23D941C-CF6D-4611-AA84-B1461D55B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6460" y="1562100"/>
            <a:ext cx="7673340" cy="7810500"/>
          </a:xfrm>
          <a:prstGeom xmlns:a="http://schemas.openxmlformats.org/drawingml/2006/main" prst="roundRect">
            <a:avLst>
              <a:gd name="adj" fmla="val 4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DDD0"/>
            </a:solidFill>
            <a:prstDash val="solid"/>
          </a:ln>
        </p:spPr>
      </p:sp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ca9ae2db8cb486b"/>
          <a:srcRect xmlns:a="http://schemas.openxmlformats.org/drawingml/2006/main" l="27116" t="0" r="27116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871710" y="1657350"/>
            <a:ext cx="7482840" cy="7620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5584965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background">
            <a:extLst xmlns:a="http://schemas.openxmlformats.org/drawingml/2006/main">
              <a:ext uri="{FF2B5EF4-FFF2-40B4-BE49-F238E27FC236}">
                <a16:creationId xmlns:a16="http://schemas.microsoft.com/office/drawing/2014/main" id="{01FE5109-FDF1-4B19-B5F6-A2B1C55FF8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2E8"/>
          </a:solidFill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BAE6F7A-5D3D-4E50-BE2E-F3A3748DFF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838200"/>
            <a:ext cx="4000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A66"/>
          </a:solidFill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140B701-9D6D-4A36-9BE2-3078BB6DE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685800"/>
            <a:ext cx="91440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5D6470"/>
                </a:solidFill>
              </a:defRPr>
            </a:pPr>
            <a:r>
              <a:rPr sz="1200" b="1">
                <a:solidFill>
                  <a:srgbClr val="5D6470"/>
                </a:solidFill>
              </a:rPr>
              <a:t>THE PROBLEM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2C92A68-1162-4A95-B4B8-FD1731C47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276350"/>
            <a:ext cx="7372350" cy="2476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5400" b="1">
                <a:solidFill>
                  <a:srgbClr val="10151F"/>
                </a:solidFill>
              </a:defRPr>
            </a:pPr>
            <a:r>
              <a:rPr sz="5400" b="1">
                <a:solidFill>
                  <a:srgbClr val="10151F"/>
                </a:solidFill>
              </a:rPr>
              <a:t>In a crisis, a confident wrong answer is a liability.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A871624-EE29-4EE3-A185-F5F2F6304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981450"/>
            <a:ext cx="5715000" cy="666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75">
                <a:solidFill>
                  <a:srgbClr val="5D6470"/>
                </a:solidFill>
              </a:defRPr>
            </a:pPr>
            <a:r>
              <a:rPr sz="2175">
                <a:solidFill>
                  <a:srgbClr val="5D6470"/>
                </a:solidFill>
              </a:rPr>
              <a:t>Volunteers need structured triage notes, not fluent improvisation under pressure.</a:t>
            </a:r>
          </a:p>
        </p:txBody>
      </p:sp>
      <p:sp>
        <p:nvSpPr>
          <p:cNvPr id="6" name="footer">
            <a:extLst xmlns:a="http://schemas.openxmlformats.org/drawingml/2006/main">
              <a:ext uri="{FF2B5EF4-FFF2-40B4-BE49-F238E27FC236}">
                <a16:creationId xmlns:a16="http://schemas.microsoft.com/office/drawing/2014/main" id="{EFE12E32-36C3-4279-8F01-359C66FBF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9429750"/>
            <a:ext cx="73723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7A808A"/>
                </a:solidFill>
              </a:defRPr>
            </a:pPr>
            <a:r>
              <a:rPr sz="1125">
                <a:solidFill>
                  <a:srgbClr val="7A808A"/>
                </a:solidFill>
              </a:rPr>
              <a:t>Resilience Copilot | Gemma 4 Good Hackathon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7EF46D9-F2E8-4A6D-A036-E7ACF0DF8C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9096" y="2667000"/>
            <a:ext cx="8661654" cy="3067050"/>
          </a:xfrm>
          <a:prstGeom xmlns:a="http://schemas.openxmlformats.org/drawingml/2006/main" prst="roundRect">
            <a:avLst>
              <a:gd name="adj" fmla="val 124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DDD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A7E6F04-CD76-4711-8094-C6F41EDE5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3200400"/>
            <a:ext cx="190500" cy="19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5A66"/>
          </a:solidFill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1E75D83-3D02-4E07-BAD5-0FA727B15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3067050"/>
            <a:ext cx="76771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7B828C"/>
                </a:solidFill>
              </a:defRPr>
            </a:pPr>
            <a:r>
              <a:rPr sz="1200">
                <a:solidFill>
                  <a:srgbClr val="7B828C"/>
                </a:solidFill>
              </a:rPr>
              <a:t>Case note says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69D21DC-0843-40D4-9D62-B51D9B10DB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3238500"/>
            <a:ext cx="76771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10151F"/>
                </a:solidFill>
              </a:defRPr>
            </a:pPr>
            <a:r>
              <a:rPr sz="1725" b="1">
                <a:solidFill>
                  <a:srgbClr val="10151F"/>
                </a:solidFill>
              </a:rPr>
              <a:t>older adult + oxygen + power outage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B4BBA52-BC77-4FC3-B381-8D8753C73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4114800"/>
            <a:ext cx="190500" cy="19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C857"/>
          </a:solidFill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E800F36-0B3B-4A58-9CE5-9B887D7BE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3981450"/>
            <a:ext cx="76771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7B828C"/>
                </a:solidFill>
              </a:defRPr>
            </a:pPr>
            <a:r>
              <a:rPr sz="1200">
                <a:solidFill>
                  <a:srgbClr val="7B828C"/>
                </a:solidFill>
              </a:rPr>
              <a:t>Hidden risk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462851E-2179-4C26-A0FF-C9B19E477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4152900"/>
            <a:ext cx="76771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10151F"/>
                </a:solidFill>
              </a:defRPr>
            </a:pPr>
            <a:r>
              <a:rPr sz="1725" b="1">
                <a:solidFill>
                  <a:srgbClr val="10151F"/>
                </a:solidFill>
              </a:rPr>
              <a:t>powered medical device battery may fail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B2F469D-E5F6-4911-B7A7-451AD36706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5029200"/>
            <a:ext cx="190500" cy="19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EA5FF"/>
          </a:solidFill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4B96FCF-A45C-4D3A-9486-B4B28603B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4895850"/>
            <a:ext cx="76771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7B828C"/>
                </a:solidFill>
              </a:defRPr>
            </a:pPr>
            <a:r>
              <a:rPr sz="1200">
                <a:solidFill>
                  <a:srgbClr val="7B828C"/>
                </a:solidFill>
              </a:rPr>
              <a:t>Unsafe chatbot failure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F62869C-4930-4AB5-ABC8-A2419B63ED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5067300"/>
            <a:ext cx="76771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10151F"/>
                </a:solidFill>
              </a:defRPr>
            </a:pPr>
            <a:r>
              <a:rPr sz="1725" b="1">
                <a:solidFill>
                  <a:srgbClr val="10151F"/>
                </a:solidFill>
              </a:rPr>
              <a:t>casual reassurance or invented local capacity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7CD976E-F7CE-4E1B-9D97-700A91C75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6324600"/>
            <a:ext cx="278130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800" b="1">
                <a:solidFill>
                  <a:srgbClr val="FF5A66"/>
                </a:solidFill>
              </a:defRPr>
            </a:pPr>
            <a:r>
              <a:rPr sz="4800" b="1">
                <a:solidFill>
                  <a:srgbClr val="FF5A66"/>
                </a:solidFill>
              </a:rPr>
              <a:t>5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F46883C-51DF-4E95-8A50-A02F045D6D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7048500"/>
            <a:ext cx="27813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10151F"/>
                </a:solidFill>
              </a:defRPr>
            </a:pPr>
            <a:r>
              <a:rPr sz="1575" b="1">
                <a:solidFill>
                  <a:srgbClr val="10151F"/>
                </a:solidFill>
              </a:rPr>
              <a:t>response sections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6B323B2-A868-421E-BBC7-78F67B230C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15750" y="6324600"/>
            <a:ext cx="278130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800" b="1">
                <a:solidFill>
                  <a:srgbClr val="4EA5FF"/>
                </a:solidFill>
              </a:defRPr>
            </a:pPr>
            <a:r>
              <a:rPr sz="4800" b="1">
                <a:solidFill>
                  <a:srgbClr val="4EA5FF"/>
                </a:solidFill>
              </a:rPr>
              <a:t>8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FC45988-3EAF-4DED-9665-5B40D301A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15750" y="7048500"/>
            <a:ext cx="27813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10151F"/>
                </a:solidFill>
              </a:defRPr>
            </a:pPr>
            <a:r>
              <a:rPr sz="1575" b="1">
                <a:solidFill>
                  <a:srgbClr val="10151F"/>
                </a:solidFill>
              </a:rPr>
              <a:t>stress/demo/holdout checks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923F6C4-ECC7-480D-8A78-A5B74B6576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49450" y="6324600"/>
            <a:ext cx="278130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800" b="1">
                <a:solidFill>
                  <a:srgbClr val="72D572"/>
                </a:solidFill>
              </a:defRPr>
            </a:pPr>
            <a:r>
              <a:rPr sz="4800" b="1">
                <a:solidFill>
                  <a:srgbClr val="72D572"/>
                </a:solidFill>
              </a:rPr>
              <a:t>0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860FDD1-1D1B-4E05-B519-CC38C622A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49450" y="7048500"/>
            <a:ext cx="27813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10151F"/>
                </a:solidFill>
              </a:defRPr>
            </a:pPr>
            <a:r>
              <a:rPr sz="1575" b="1">
                <a:solidFill>
                  <a:srgbClr val="10151F"/>
                </a:solidFill>
              </a:rPr>
              <a:t>diagnosis claims</a:t>
            </a:r>
          </a:p>
        </p:txBody>
      </p:sp>
    </p:spTree>
    <p:extLst>
      <p:ext uri="{BB962C8B-B14F-4D97-AF65-F5344CB8AC3E}">
        <p14:creationId xmlns:p14="http://schemas.microsoft.com/office/powerpoint/2010/main" val="291905568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background">
            <a:extLst xmlns:a="http://schemas.openxmlformats.org/drawingml/2006/main">
              <a:ext uri="{FF2B5EF4-FFF2-40B4-BE49-F238E27FC236}">
                <a16:creationId xmlns:a16="http://schemas.microsoft.com/office/drawing/2014/main" id="{D366982B-0074-454E-A5CA-F8DE53538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51F"/>
          </a:solidFill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3D1DD3B-FD6E-422B-AC56-947930B987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800100"/>
            <a:ext cx="4000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E2C5"/>
          </a:solidFill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55B4070-29B6-45BC-8306-BFD7F9726C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647700"/>
            <a:ext cx="135255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5D6470"/>
                </a:solidFill>
              </a:defRPr>
            </a:pPr>
            <a:r>
              <a:rPr sz="1200" b="1">
                <a:solidFill>
                  <a:srgbClr val="5D6470"/>
                </a:solidFill>
              </a:rPr>
              <a:t>PRODUCT MECHANIC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DF6E979-5132-4A08-B6B6-D1480B6B3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123950"/>
            <a:ext cx="12496800" cy="1428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650" b="1">
                <a:solidFill>
                  <a:srgbClr val="FFFFFF"/>
                </a:solidFill>
              </a:defRPr>
            </a:pPr>
            <a:r>
              <a:rPr sz="4650" b="1">
                <a:solidFill>
                  <a:srgbClr val="FFFFFF"/>
                </a:solidFill>
              </a:rPr>
              <a:t>The sidecar makes the model useful without hiding the safety rails.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7AAC1CC-1BB7-4A4A-9C34-29BE847F58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248150"/>
            <a:ext cx="3321564" cy="4000500"/>
          </a:xfrm>
          <a:prstGeom xmlns:a="http://schemas.openxmlformats.org/drawingml/2006/main" prst="roundRect">
            <a:avLst>
              <a:gd name="adj" fmla="val 1147"/>
            </a:avLst>
          </a:prstGeom>
          <a:solidFill xmlns:a="http://schemas.openxmlformats.org/drawingml/2006/main">
            <a:srgbClr val="1B2432"/>
          </a:solidFill>
        </p:spPr>
      </p:sp>
      <p:sp>
        <p:nvSpPr>
          <p:cNvPr id="6" name="badge-1">
            <a:extLst xmlns:a="http://schemas.openxmlformats.org/drawingml/2006/main">
              <a:ext uri="{FF2B5EF4-FFF2-40B4-BE49-F238E27FC236}">
                <a16:creationId xmlns:a16="http://schemas.microsoft.com/office/drawing/2014/main" id="{E71AB251-80B9-4356-BF3C-8C9488D96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5293995"/>
            <a:ext cx="429768" cy="37719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5A66"/>
          </a:solidFill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F71A4C4-9A75-4C22-ABEB-6E5F40C49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5391150"/>
            <a:ext cx="762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D28F21F-E6D6-475D-8295-49CE9CA067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5848350"/>
            <a:ext cx="274320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FFFFFF"/>
                </a:solidFill>
              </a:defRPr>
            </a:pPr>
            <a:r>
              <a:rPr sz="2400" b="1">
                <a:solidFill>
                  <a:srgbClr val="FFFFFF"/>
                </a:solidFill>
              </a:rPr>
              <a:t>Messy intake note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CE202DE-91DE-4636-9EB1-CBF48F2D3A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6381750"/>
            <a:ext cx="2743200" cy="838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CBD5E1"/>
                </a:solidFill>
              </a:defRPr>
            </a:pPr>
            <a:r>
              <a:rPr sz="1800">
                <a:solidFill>
                  <a:srgbClr val="CBD5E1"/>
                </a:solidFill>
              </a:rPr>
              <a:t>Flood, cold children, medication, pet shelter, transport, language needs.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E0543C4-D671-4072-80A8-0025E24409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5981700"/>
            <a:ext cx="495300" cy="533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FFC857"/>
                </a:solidFill>
              </a:defRPr>
            </a:pPr>
            <a:r>
              <a:rPr sz="3450" b="1">
                <a:solidFill>
                  <a:srgbClr val="FFC857"/>
                </a:solidFill>
              </a:rPr>
              <a:t>-&gt;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C2459CD-ACD4-42D8-9363-A56C872141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8914" y="4248150"/>
            <a:ext cx="3506095" cy="4000500"/>
          </a:xfrm>
          <a:prstGeom xmlns:a="http://schemas.openxmlformats.org/drawingml/2006/main" prst="roundRect">
            <a:avLst>
              <a:gd name="adj" fmla="val 1087"/>
            </a:avLst>
          </a:prstGeom>
          <a:solidFill xmlns:a="http://schemas.openxmlformats.org/drawingml/2006/main">
            <a:srgbClr val="172F35"/>
          </a:solidFill>
        </p:spPr>
      </p:sp>
      <p:sp>
        <p:nvSpPr>
          <p:cNvPr id="12" name="badge-2">
            <a:extLst xmlns:a="http://schemas.openxmlformats.org/drawingml/2006/main">
              <a:ext uri="{FF2B5EF4-FFF2-40B4-BE49-F238E27FC236}">
                <a16:creationId xmlns:a16="http://schemas.microsoft.com/office/drawing/2014/main" id="{C66559BC-B8E4-455B-9C3C-3F98BEE61F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64664" y="5293995"/>
            <a:ext cx="429768" cy="37719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DE2C5"/>
          </a:solidFill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3E2EF1A-0C83-4DB7-94DF-34E1DEF040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8300" y="5391150"/>
            <a:ext cx="762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0151F"/>
                </a:solidFill>
              </a:defRPr>
            </a:pPr>
            <a:r>
              <a:rPr sz="1350" b="1">
                <a:solidFill>
                  <a:srgbClr val="10151F"/>
                </a:solidFill>
              </a:rPr>
              <a:t>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6555EB9-50D5-48E4-98A1-1AB6F9D28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5848350"/>
            <a:ext cx="293370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FFFFFF"/>
                </a:solidFill>
              </a:defRPr>
            </a:pPr>
            <a:r>
              <a:rPr sz="2400" b="1">
                <a:solidFill>
                  <a:srgbClr val="FFFFFF"/>
                </a:solidFill>
              </a:rPr>
              <a:t>Risk sidecar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F660E74-4AE4-4C47-A430-5861C9C265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6381750"/>
            <a:ext cx="2933700" cy="838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C6F7EE"/>
                </a:solidFill>
              </a:defRPr>
            </a:pPr>
            <a:r>
              <a:rPr sz="1800">
                <a:solidFill>
                  <a:srgbClr val="C6F7EE"/>
                </a:solidFill>
              </a:rPr>
              <a:t>Flags insulin, oxygen, pregnancy, floodwater, rumors, language access.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1EC9C47-E9FA-46D5-A3D9-C5AC744E8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5981700"/>
            <a:ext cx="495300" cy="533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FFC857"/>
                </a:solidFill>
              </a:defRPr>
            </a:pPr>
            <a:r>
              <a:rPr sz="3450" b="1">
                <a:solidFill>
                  <a:srgbClr val="FFC857"/>
                </a:solidFill>
              </a:rPr>
              <a:t>-&gt;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EF32E66-798D-4591-9966-F5BB5C26E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3209" y="4248150"/>
            <a:ext cx="3764439" cy="4000500"/>
          </a:xfrm>
          <a:prstGeom xmlns:a="http://schemas.openxmlformats.org/drawingml/2006/main" prst="roundRect">
            <a:avLst>
              <a:gd name="adj" fmla="val 1012"/>
            </a:avLst>
          </a:prstGeom>
          <a:solidFill xmlns:a="http://schemas.openxmlformats.org/drawingml/2006/main">
            <a:srgbClr val="332740"/>
          </a:solidFill>
        </p:spPr>
      </p:sp>
      <p:sp>
        <p:nvSpPr>
          <p:cNvPr id="18" name="badge-3">
            <a:extLst xmlns:a="http://schemas.openxmlformats.org/drawingml/2006/main">
              <a:ext uri="{FF2B5EF4-FFF2-40B4-BE49-F238E27FC236}">
                <a16:creationId xmlns:a16="http://schemas.microsoft.com/office/drawing/2014/main" id="{B3E09E8F-53DC-4538-8AD6-8E97833E99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8959" y="5293995"/>
            <a:ext cx="429768" cy="37719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DA7FF"/>
          </a:solidFill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B0D6731-1FCB-4270-A0B7-F10CD9A37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5391150"/>
            <a:ext cx="762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0151F"/>
                </a:solidFill>
              </a:defRPr>
            </a:pPr>
            <a:r>
              <a:rPr sz="1350" b="1">
                <a:solidFill>
                  <a:srgbClr val="10151F"/>
                </a:solidFill>
              </a:rPr>
              <a:t>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3323FF2-5A03-4817-8849-388CF619C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5848350"/>
            <a:ext cx="320040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FFFFFF"/>
                </a:solidFill>
              </a:defRPr>
            </a:pPr>
            <a:r>
              <a:rPr sz="2400" b="1">
                <a:solidFill>
                  <a:srgbClr val="FFFFFF"/>
                </a:solidFill>
              </a:rPr>
              <a:t>Gemma 4 answer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A21FEC9-AF34-4F13-B3BF-81984325E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6381750"/>
            <a:ext cx="3200400" cy="838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E6DEFF"/>
                </a:solidFill>
              </a:defRPr>
            </a:pPr>
            <a:r>
              <a:rPr sz="1800">
                <a:solidFill>
                  <a:srgbClr val="E6DEFF"/>
                </a:solidFill>
              </a:rPr>
              <a:t>Structured plan, clarifying questions, and visible safety boundary.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B24A636-E36C-4B03-ACA6-A21A8FC79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0" y="5981700"/>
            <a:ext cx="495300" cy="533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FFC857"/>
                </a:solidFill>
              </a:defRPr>
            </a:pPr>
            <a:r>
              <a:rPr sz="3450" b="1">
                <a:solidFill>
                  <a:srgbClr val="FFC857"/>
                </a:solidFill>
              </a:rPr>
              <a:t>-&gt;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4E584D4-5EA0-49A7-AC75-24C05D14D7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25848" y="4248150"/>
            <a:ext cx="3543002" cy="4000500"/>
          </a:xfrm>
          <a:prstGeom xmlns:a="http://schemas.openxmlformats.org/drawingml/2006/main" prst="roundRect">
            <a:avLst>
              <a:gd name="adj" fmla="val 1075"/>
            </a:avLst>
          </a:prstGeom>
          <a:solidFill xmlns:a="http://schemas.openxmlformats.org/drawingml/2006/main">
            <a:srgbClr val="203017"/>
          </a:solidFill>
        </p:spPr>
      </p:sp>
      <p:sp>
        <p:nvSpPr>
          <p:cNvPr id="24" name="badge-4">
            <a:extLst xmlns:a="http://schemas.openxmlformats.org/drawingml/2006/main">
              <a:ext uri="{FF2B5EF4-FFF2-40B4-BE49-F238E27FC236}">
                <a16:creationId xmlns:a16="http://schemas.microsoft.com/office/drawing/2014/main" id="{8321CC16-47D8-443F-AB12-A48980131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11598" y="5293995"/>
            <a:ext cx="429768" cy="37719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72D572"/>
          </a:solidFill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86BA931-31EC-45E3-AF12-B1C524024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382750" y="5391150"/>
            <a:ext cx="762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0151F"/>
                </a:solidFill>
              </a:defRPr>
            </a:pPr>
            <a:r>
              <a:rPr sz="1350" b="1">
                <a:solidFill>
                  <a:srgbClr val="10151F"/>
                </a:solidFill>
              </a:rPr>
              <a:t>4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1087E5C-5332-4D46-A92C-D71557393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11300" y="5848350"/>
            <a:ext cx="297180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FFFFFF"/>
                </a:solidFill>
              </a:defRPr>
            </a:pPr>
            <a:r>
              <a:rPr sz="2400" b="1">
                <a:solidFill>
                  <a:srgbClr val="FFFFFF"/>
                </a:solidFill>
              </a:rPr>
              <a:t>Responder handoff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4CA0042-B385-48BA-BC4B-330BC2F74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11300" y="6381750"/>
            <a:ext cx="2971800" cy="838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D9F9D7"/>
                </a:solidFill>
              </a:defRPr>
            </a:pPr>
            <a:r>
              <a:rPr sz="1800">
                <a:solidFill>
                  <a:srgbClr val="D9F9D7"/>
                </a:solidFill>
              </a:rPr>
              <a:t>A safer next-action note for human teams, not a replacement for them.</a:t>
            </a:r>
          </a:p>
        </p:txBody>
      </p:sp>
    </p:spTree>
    <p:extLst>
      <p:ext uri="{BB962C8B-B14F-4D97-AF65-F5344CB8AC3E}">
        <p14:creationId xmlns:p14="http://schemas.microsoft.com/office/powerpoint/2010/main" val="1096916045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background">
            <a:extLst xmlns:a="http://schemas.openxmlformats.org/drawingml/2006/main">
              <a:ext uri="{FF2B5EF4-FFF2-40B4-BE49-F238E27FC236}">
                <a16:creationId xmlns:a16="http://schemas.microsoft.com/office/drawing/2014/main" id="{70B1951C-8FD1-4BE0-A155-4AEDD615F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2E8"/>
          </a:solidFill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286D97B-30A4-497C-AE44-EA858750B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838200"/>
            <a:ext cx="4000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EA5FF"/>
          </a:solidFill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E0F17B2-787D-43B2-8DBF-4E0CDD72B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666750"/>
            <a:ext cx="70485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5D6470"/>
                </a:solidFill>
              </a:defRPr>
            </a:pPr>
            <a:r>
              <a:rPr sz="1200" b="1">
                <a:solidFill>
                  <a:srgbClr val="5D6470"/>
                </a:solidFill>
              </a:rPr>
              <a:t>LIVE DEMO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87FA2E1-0193-4947-B67B-971A46CFF9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219200"/>
            <a:ext cx="6248400" cy="2343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5100" b="1">
                <a:solidFill>
                  <a:srgbClr val="10151F"/>
                </a:solidFill>
              </a:defRPr>
            </a:pPr>
            <a:r>
              <a:rPr sz="5100" b="1">
                <a:solidFill>
                  <a:srgbClr val="10151F"/>
                </a:solidFill>
              </a:rPr>
              <a:t>Judges can poke the safety behavior directly.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5ACB031-58BC-40B3-BD93-155AF8FF9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752850"/>
            <a:ext cx="6496050" cy="933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5D6470"/>
                </a:solidFill>
              </a:defRPr>
            </a:pPr>
            <a:r>
              <a:rPr sz="2025">
                <a:solidFill>
                  <a:srgbClr val="5D6470"/>
                </a:solidFill>
              </a:rPr>
              <a:t>The public demo exposes the same five-section output used in local validation, so the project is inspectable instead of purely described.</a:t>
            </a:r>
          </a:p>
        </p:txBody>
      </p:sp>
      <p:sp>
        <p:nvSpPr>
          <p:cNvPr id="6" name="badge-public-demo">
            <a:extLst xmlns:a="http://schemas.openxmlformats.org/drawingml/2006/main">
              <a:ext uri="{FF2B5EF4-FFF2-40B4-BE49-F238E27FC236}">
                <a16:creationId xmlns:a16="http://schemas.microsoft.com/office/drawing/2014/main" id="{FEF762E5-74D1-4F52-85CA-B24EAD41C1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861560"/>
            <a:ext cx="1223581" cy="58293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EA5FF"/>
          </a:solidFill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47B8E20-DCBC-4434-B135-44611E019E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933950"/>
            <a:ext cx="87630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public demo</a:t>
            </a:r>
          </a:p>
        </p:txBody>
      </p:sp>
      <p:sp>
        <p:nvSpPr>
          <p:cNvPr id="8" name="badge-public-code">
            <a:extLst xmlns:a="http://schemas.openxmlformats.org/drawingml/2006/main">
              <a:ext uri="{FF2B5EF4-FFF2-40B4-BE49-F238E27FC236}">
                <a16:creationId xmlns:a16="http://schemas.microsoft.com/office/drawing/2014/main" id="{EE8BD395-F6E8-4B0F-85C5-B0DEA68C7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5131" y="4861560"/>
            <a:ext cx="1155001" cy="58293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DE2C5"/>
          </a:solidFill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B03F2D5-C9D4-4999-A31C-7AAB83B4E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4933950"/>
            <a:ext cx="80010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0151F"/>
                </a:solidFill>
              </a:defRPr>
            </a:pPr>
            <a:r>
              <a:rPr sz="1350" b="1">
                <a:solidFill>
                  <a:srgbClr val="10151F"/>
                </a:solidFill>
              </a:rPr>
              <a:t>public code</a:t>
            </a:r>
          </a:p>
        </p:txBody>
      </p:sp>
      <p:sp>
        <p:nvSpPr>
          <p:cNvPr id="10" name="badge-video-pitch">
            <a:extLst xmlns:a="http://schemas.openxmlformats.org/drawingml/2006/main">
              <a:ext uri="{FF2B5EF4-FFF2-40B4-BE49-F238E27FC236}">
                <a16:creationId xmlns:a16="http://schemas.microsoft.com/office/drawing/2014/main" id="{03295FCF-7A71-4D1D-80FB-FBCC856F1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4433" y="4861560"/>
            <a:ext cx="1130522" cy="58293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C857"/>
          </a:solidFill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34B2CB3-0DDA-4013-B9F1-2DD94B41D7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4933950"/>
            <a:ext cx="80010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0151F"/>
                </a:solidFill>
              </a:defRPr>
            </a:pPr>
            <a:r>
              <a:rPr sz="1350" b="1">
                <a:solidFill>
                  <a:srgbClr val="10151F"/>
                </a:solidFill>
              </a:rPr>
              <a:t>video pitch</a:t>
            </a:r>
          </a:p>
        </p:txBody>
      </p:sp>
      <p:sp>
        <p:nvSpPr>
          <p:cNvPr id="12" name="footer">
            <a:extLst xmlns:a="http://schemas.openxmlformats.org/drawingml/2006/main">
              <a:ext uri="{FF2B5EF4-FFF2-40B4-BE49-F238E27FC236}">
                <a16:creationId xmlns:a16="http://schemas.microsoft.com/office/drawing/2014/main" id="{F7936711-8BD7-4511-ABD4-4B74DD8C4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9448800"/>
            <a:ext cx="62484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7A808A"/>
                </a:solidFill>
              </a:defRPr>
            </a:pPr>
            <a:r>
              <a:rPr sz="1125">
                <a:solidFill>
                  <a:srgbClr val="7A808A"/>
                </a:solidFill>
              </a:rPr>
              <a:t>Demo: huier5635-cmd.github.io/resilience-copilot-gemma4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D43D1D2-2FAE-43F6-9FE2-6AC1A6D4B8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7910" y="2047875"/>
            <a:ext cx="9772841" cy="6191250"/>
          </a:xfrm>
          <a:prstGeom xmlns:a="http://schemas.openxmlformats.org/drawingml/2006/main" prst="roundRect">
            <a:avLst>
              <a:gd name="adj" fmla="val 6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DDD0"/>
            </a:solidFill>
            <a:prstDash val="solid"/>
          </a:ln>
        </p:spPr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40fa328b7b1441b"/>
          <a:stretch xmlns:a="http://schemas.openxmlformats.org/drawingml/2006/main"/>
        </p:blipFill>
        <p:spPr>
          <a:xfrm xmlns:a="http://schemas.openxmlformats.org/drawingml/2006/main">
            <a:off x="7753160" y="2910477"/>
            <a:ext cx="9582341" cy="4466046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4960230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background">
            <a:extLst xmlns:a="http://schemas.openxmlformats.org/drawingml/2006/main">
              <a:ext uri="{FF2B5EF4-FFF2-40B4-BE49-F238E27FC236}">
                <a16:creationId xmlns:a16="http://schemas.microsoft.com/office/drawing/2014/main" id="{24D0D4CB-44C0-4702-8AB5-D86B28079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51F"/>
          </a:solidFill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000821F-0E76-4510-9B2D-D1502F4B57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733800"/>
            <a:ext cx="4000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C857"/>
          </a:solidFill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79F70B0-8979-4753-9DDC-A414127087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657600"/>
            <a:ext cx="10287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5D6470"/>
                </a:solidFill>
              </a:defRPr>
            </a:pPr>
            <a:r>
              <a:rPr sz="1200" b="1">
                <a:solidFill>
                  <a:srgbClr val="5D6470"/>
                </a:solidFill>
              </a:rPr>
              <a:t>SAFETY SIDECAR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F9A37F9-6609-48DD-9D65-CA7D14166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095750"/>
            <a:ext cx="6896100" cy="1657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5400" b="1">
                <a:solidFill>
                  <a:srgbClr val="FFFFFF"/>
                </a:solidFill>
              </a:defRPr>
            </a:pPr>
            <a:r>
              <a:rPr sz="5400" b="1">
                <a:solidFill>
                  <a:srgbClr val="FFFFFF"/>
                </a:solidFill>
              </a:rPr>
              <a:t>Small detector, big behavioral change.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7CACB57-435A-4159-B3A6-EE534CD1C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981700"/>
            <a:ext cx="651510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>
                <a:solidFill>
                  <a:srgbClr val="CBD5E1"/>
                </a:solidFill>
              </a:defRPr>
            </a:pPr>
            <a:r>
              <a:rPr sz="2100">
                <a:solidFill>
                  <a:srgbClr val="CBD5E1"/>
                </a:solidFill>
              </a:rPr>
              <a:t>Original branch: expand the sidecar beyond demo cases into edge cases that generic assistants often flatten.</a:t>
            </a:r>
          </a:p>
        </p:txBody>
      </p:sp>
      <p:sp>
        <p:nvSpPr>
          <p:cNvPr id="6" name="badge-children-cold-exposure">
            <a:extLst xmlns:a="http://schemas.openxmlformats.org/drawingml/2006/main">
              <a:ext uri="{FF2B5EF4-FFF2-40B4-BE49-F238E27FC236}">
                <a16:creationId xmlns:a16="http://schemas.microsoft.com/office/drawing/2014/main" id="{2B8D9F53-8DC5-44B5-ACE7-AE01371AB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6085" y="666750"/>
            <a:ext cx="4472083" cy="2081213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5A66"/>
          </a:solidFill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075E9A5-513C-42CE-AF5F-15DDE12705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1619250"/>
            <a:ext cx="16002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children cold exposure</a:t>
            </a:r>
          </a:p>
        </p:txBody>
      </p:sp>
      <p:sp>
        <p:nvSpPr>
          <p:cNvPr id="8" name="badge-medication-interruption">
            <a:extLst xmlns:a="http://schemas.openxmlformats.org/drawingml/2006/main">
              <a:ext uri="{FF2B5EF4-FFF2-40B4-BE49-F238E27FC236}">
                <a16:creationId xmlns:a16="http://schemas.microsoft.com/office/drawing/2014/main" id="{46F8D621-C51D-4D73-9A86-F3AF079FD0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77717" y="666750"/>
            <a:ext cx="4472083" cy="2081213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C857"/>
          </a:solidFill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6B9AE08-3C76-495D-AB84-AA9454129F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363700" y="1619250"/>
            <a:ext cx="17145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0151F"/>
                </a:solidFill>
              </a:defRPr>
            </a:pPr>
            <a:r>
              <a:rPr sz="1350" b="1">
                <a:solidFill>
                  <a:srgbClr val="10151F"/>
                </a:solidFill>
              </a:rPr>
              <a:t>medication interruption</a:t>
            </a:r>
          </a:p>
        </p:txBody>
      </p:sp>
      <p:sp>
        <p:nvSpPr>
          <p:cNvPr id="10" name="badge-pregnancy-insulin">
            <a:extLst xmlns:a="http://schemas.openxmlformats.org/drawingml/2006/main">
              <a:ext uri="{FF2B5EF4-FFF2-40B4-BE49-F238E27FC236}">
                <a16:creationId xmlns:a16="http://schemas.microsoft.com/office/drawing/2014/main" id="{DBB5879A-880A-486C-B3D0-920E5F168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6085" y="2957513"/>
            <a:ext cx="4472083" cy="2081213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DA7FF"/>
          </a:solidFill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514FA55-CB95-4BB4-918B-A174439E8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3790950"/>
            <a:ext cx="137160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0151F"/>
                </a:solidFill>
              </a:defRPr>
            </a:pPr>
            <a:r>
              <a:rPr sz="1350" b="1">
                <a:solidFill>
                  <a:srgbClr val="10151F"/>
                </a:solidFill>
              </a:rPr>
              <a:t>pregnancy + insulin</a:t>
            </a:r>
          </a:p>
        </p:txBody>
      </p:sp>
      <p:sp>
        <p:nvSpPr>
          <p:cNvPr id="12" name="badge-oxygen-power-loss">
            <a:extLst xmlns:a="http://schemas.openxmlformats.org/drawingml/2006/main">
              <a:ext uri="{FF2B5EF4-FFF2-40B4-BE49-F238E27FC236}">
                <a16:creationId xmlns:a16="http://schemas.microsoft.com/office/drawing/2014/main" id="{1DC23560-3449-4DCA-9213-6757BA0E5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77717" y="2957513"/>
            <a:ext cx="4472083" cy="2081213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EA5FF"/>
          </a:solidFill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87CD763-3242-47B4-A396-EE6163536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73250" y="3905250"/>
            <a:ext cx="12954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oxygen power loss</a:t>
            </a:r>
          </a:p>
        </p:txBody>
      </p:sp>
      <p:sp>
        <p:nvSpPr>
          <p:cNvPr id="14" name="badge-language-access-barrier">
            <a:extLst xmlns:a="http://schemas.openxmlformats.org/drawingml/2006/main">
              <a:ext uri="{FF2B5EF4-FFF2-40B4-BE49-F238E27FC236}">
                <a16:creationId xmlns:a16="http://schemas.microsoft.com/office/drawing/2014/main" id="{03E54575-B52A-4931-A201-C97188DB12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6085" y="5248275"/>
            <a:ext cx="4472083" cy="2081213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DE2C5"/>
          </a:solidFill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D55A3CD-397A-473F-9EA0-3D0AFB33E9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6191250"/>
            <a:ext cx="16764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0151F"/>
                </a:solidFill>
              </a:defRPr>
            </a:pPr>
            <a:r>
              <a:rPr sz="1350" b="1">
                <a:solidFill>
                  <a:srgbClr val="10151F"/>
                </a:solidFill>
              </a:rPr>
              <a:t>language access barrier</a:t>
            </a:r>
          </a:p>
        </p:txBody>
      </p:sp>
      <p:sp>
        <p:nvSpPr>
          <p:cNvPr id="16" name="badge-unverified-shelter-rumor">
            <a:extLst xmlns:a="http://schemas.openxmlformats.org/drawingml/2006/main">
              <a:ext uri="{FF2B5EF4-FFF2-40B4-BE49-F238E27FC236}">
                <a16:creationId xmlns:a16="http://schemas.microsoft.com/office/drawing/2014/main" id="{ECEEC201-08D3-4F17-9D61-F58334806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77717" y="5248275"/>
            <a:ext cx="4472083" cy="2081213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72D572"/>
          </a:solidFill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73B1461-2516-4636-AB53-6BFC89FD5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344650" y="6191250"/>
            <a:ext cx="17526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0151F"/>
                </a:solidFill>
              </a:defRPr>
            </a:pPr>
            <a:r>
              <a:rPr sz="1350" b="1">
                <a:solidFill>
                  <a:srgbClr val="10151F"/>
                </a:solidFill>
              </a:rPr>
              <a:t>unverified shelter rumor</a:t>
            </a:r>
          </a:p>
        </p:txBody>
      </p:sp>
      <p:sp>
        <p:nvSpPr>
          <p:cNvPr id="18" name="badge-floodwater-hazard">
            <a:extLst xmlns:a="http://schemas.openxmlformats.org/drawingml/2006/main">
              <a:ext uri="{FF2B5EF4-FFF2-40B4-BE49-F238E27FC236}">
                <a16:creationId xmlns:a16="http://schemas.microsoft.com/office/drawing/2014/main" id="{115164DC-5FB9-4423-BFBE-79ADD9B7F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6085" y="7539038"/>
            <a:ext cx="4472083" cy="2081213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8D4D"/>
          </a:solidFill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DEE6B6B-7E7C-44CE-ABA2-51BEBA3F2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8477250"/>
            <a:ext cx="12954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0151F"/>
                </a:solidFill>
              </a:defRPr>
            </a:pPr>
            <a:r>
              <a:rPr sz="1350" b="1">
                <a:solidFill>
                  <a:srgbClr val="10151F"/>
                </a:solidFill>
              </a:rPr>
              <a:t>floodwater hazard</a:t>
            </a:r>
          </a:p>
        </p:txBody>
      </p:sp>
      <p:sp>
        <p:nvSpPr>
          <p:cNvPr id="20" name="badge-responder-escalation">
            <a:extLst xmlns:a="http://schemas.openxmlformats.org/drawingml/2006/main">
              <a:ext uri="{FF2B5EF4-FFF2-40B4-BE49-F238E27FC236}">
                <a16:creationId xmlns:a16="http://schemas.microsoft.com/office/drawing/2014/main" id="{919D1BC0-9E63-4D2D-B475-F8E7662C1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77717" y="7539038"/>
            <a:ext cx="4472083" cy="2081213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4888901-73E7-4ED2-9CC2-2F3635A27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0" y="8477250"/>
            <a:ext cx="14859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0151F"/>
                </a:solidFill>
              </a:defRPr>
            </a:pPr>
            <a:r>
              <a:rPr sz="1350" b="1">
                <a:solidFill>
                  <a:srgbClr val="10151F"/>
                </a:solidFill>
              </a:rPr>
              <a:t>responder escalation</a:t>
            </a:r>
          </a:p>
        </p:txBody>
      </p:sp>
    </p:spTree>
    <p:extLst>
      <p:ext uri="{BB962C8B-B14F-4D97-AF65-F5344CB8AC3E}">
        <p14:creationId xmlns:p14="http://schemas.microsoft.com/office/powerpoint/2010/main" val="1823285915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background">
            <a:extLst xmlns:a="http://schemas.openxmlformats.org/drawingml/2006/main">
              <a:ext uri="{FF2B5EF4-FFF2-40B4-BE49-F238E27FC236}">
                <a16:creationId xmlns:a16="http://schemas.microsoft.com/office/drawing/2014/main" id="{FDCC9E56-26B0-408C-9EC3-15E3902BD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2E8"/>
          </a:solidFill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F815DCD-FE55-414B-9A3A-28CA36B0E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723900"/>
            <a:ext cx="4000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2D572"/>
          </a:solidFill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870D755-FC50-4DD3-9F39-D3CD7A762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666750"/>
            <a:ext cx="781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5D6470"/>
                </a:solidFill>
              </a:defRPr>
            </a:pPr>
            <a:r>
              <a:rPr sz="1200" b="1">
                <a:solidFill>
                  <a:srgbClr val="5D6470"/>
                </a:solidFill>
              </a:rPr>
              <a:t>VALIDATION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8272E4E-E90E-4A4C-BBD1-207B075398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952500"/>
            <a:ext cx="1661160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875" b="1">
                <a:solidFill>
                  <a:srgbClr val="10151F"/>
                </a:solidFill>
              </a:defRPr>
            </a:pPr>
            <a:r>
              <a:rPr sz="4875" b="1">
                <a:solidFill>
                  <a:srgbClr val="10151F"/>
                </a:solidFill>
              </a:rPr>
              <a:t>Local gates prove the exact claims in the writeup.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39AAF68-4567-4634-8066-E71973A5F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790700"/>
            <a:ext cx="166116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950">
                <a:solidFill>
                  <a:srgbClr val="5D6470"/>
                </a:solidFill>
              </a:defRPr>
            </a:pPr>
            <a:r>
              <a:rPr sz="1950">
                <a:solidFill>
                  <a:srgbClr val="5D6470"/>
                </a:solidFill>
              </a:rPr>
              <a:t>No hidden dataset exists for this hackathon, so the validation is scenario-based and leakage-aware.</a:t>
            </a:r>
          </a:p>
        </p:txBody>
      </p:sp>
      <p:graphicFrame>
        <p:nvGraphicFramePr>
          <p:cNvPr id="6" name="validation-chart"/>
          <p:cNvGraphicFramePr/>
          <p:nvPr/>
        </p:nvGraphicFramePr>
        <p:xfrm>
          <a:off xmlns:a="http://schemas.openxmlformats.org/drawingml/2006/main" x="838200" y="2327910"/>
          <a:ext xmlns:a="http://schemas.openxmlformats.org/drawingml/2006/main" cx="7887653" cy="687324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cb02850fae5c4309"/>
          </a:graphicData>
        </a:graphic>
      </p:graphicFrame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77B0447-185D-418E-8DF1-2699FD16F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3467100"/>
            <a:ext cx="821055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800" b="1">
                <a:solidFill>
                  <a:srgbClr val="4EA5FF"/>
                </a:solidFill>
              </a:defRPr>
            </a:pPr>
            <a:r>
              <a:rPr sz="4800" b="1">
                <a:solidFill>
                  <a:srgbClr val="4EA5FF"/>
                </a:solidFill>
              </a:rPr>
              <a:t>2/2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BE5987B-519F-4747-A2BB-DC3F1641B2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4210050"/>
            <a:ext cx="82105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10151F"/>
                </a:solidFill>
              </a:defRPr>
            </a:pPr>
            <a:r>
              <a:rPr sz="1575" b="1">
                <a:solidFill>
                  <a:srgbClr val="10151F"/>
                </a:solidFill>
              </a:rPr>
              <a:t>demo cases: presentable examples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A9C74AA-4C0B-4324-8F7D-6D69245B5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5276850"/>
            <a:ext cx="821055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800" b="1">
                <a:solidFill>
                  <a:srgbClr val="72D572"/>
                </a:solidFill>
              </a:defRPr>
            </a:pPr>
            <a:r>
              <a:rPr sz="4800" b="1">
                <a:solidFill>
                  <a:srgbClr val="72D572"/>
                </a:solidFill>
              </a:rPr>
              <a:t>2/2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283B6DD-67AD-40EF-AD7E-8377E5831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6019800"/>
            <a:ext cx="82105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10151F"/>
                </a:solidFill>
              </a:defRPr>
            </a:pPr>
            <a:r>
              <a:rPr sz="1575" b="1">
                <a:solidFill>
                  <a:srgbClr val="10151F"/>
                </a:solidFill>
              </a:rPr>
              <a:t>holdout cases: not baked into prompt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7611C75-25BD-4588-8D8F-026D8591B4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7086600"/>
            <a:ext cx="821055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800" b="1">
                <a:solidFill>
                  <a:srgbClr val="FF5A66"/>
                </a:solidFill>
              </a:defRPr>
            </a:pPr>
            <a:r>
              <a:rPr sz="4800" b="1">
                <a:solidFill>
                  <a:srgbClr val="FF5A66"/>
                </a:solidFill>
              </a:rPr>
              <a:t>4/4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8507BBF-B864-4EB4-9750-ADBBD7FA0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7829550"/>
            <a:ext cx="82105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10151F"/>
                </a:solidFill>
              </a:defRPr>
            </a:pPr>
            <a:r>
              <a:rPr sz="1575" b="1">
                <a:solidFill>
                  <a:srgbClr val="10151F"/>
                </a:solidFill>
              </a:rPr>
              <a:t>stress cases: edge-risk checks</a:t>
            </a:r>
          </a:p>
        </p:txBody>
      </p:sp>
      <p:sp>
        <p:nvSpPr>
          <p:cNvPr id="13" name="footer">
            <a:extLst xmlns:a="http://schemas.openxmlformats.org/drawingml/2006/main">
              <a:ext uri="{FF2B5EF4-FFF2-40B4-BE49-F238E27FC236}">
                <a16:creationId xmlns:a16="http://schemas.microsoft.com/office/drawing/2014/main" id="{54F8F018-CCB3-417A-9F92-6610618A0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9448800"/>
            <a:ext cx="166116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7A808A"/>
                </a:solidFill>
              </a:defRPr>
            </a:pPr>
            <a:r>
              <a:rPr sz="1125">
                <a:solidFill>
                  <a:srgbClr val="7A808A"/>
                </a:solidFill>
              </a:rPr>
              <a:t>Local command: python scripts\run_local_validation.py</a:t>
            </a:r>
          </a:p>
        </p:txBody>
      </p:sp>
    </p:spTree>
    <p:extLst>
      <p:ext uri="{BB962C8B-B14F-4D97-AF65-F5344CB8AC3E}">
        <p14:creationId xmlns:p14="http://schemas.microsoft.com/office/powerpoint/2010/main" val="1719177425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background">
            <a:extLst xmlns:a="http://schemas.openxmlformats.org/drawingml/2006/main">
              <a:ext uri="{FF2B5EF4-FFF2-40B4-BE49-F238E27FC236}">
                <a16:creationId xmlns:a16="http://schemas.microsoft.com/office/drawing/2014/main" id="{E39BA4BF-A542-416E-B6A5-64F4FF7E00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EFE8"/>
          </a:solidFill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EBF5375-4A96-41BE-8569-3B06648E6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723900"/>
            <a:ext cx="4000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A66"/>
          </a:solidFill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45AA36B-81F5-479D-A725-6084416B2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666750"/>
            <a:ext cx="13144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5D6470"/>
                </a:solidFill>
              </a:defRPr>
            </a:pPr>
            <a:r>
              <a:rPr sz="1200" b="1">
                <a:solidFill>
                  <a:srgbClr val="5D6470"/>
                </a:solidFill>
              </a:rPr>
              <a:t>GEMMA 4 EVIDENCE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C0A3ED2-E156-4FF2-BFCD-ACEE20BBFC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066800"/>
            <a:ext cx="6591300" cy="2266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950" b="1">
                <a:solidFill>
                  <a:srgbClr val="10151F"/>
                </a:solidFill>
              </a:defRPr>
            </a:pPr>
            <a:r>
              <a:rPr sz="4950" b="1">
                <a:solidFill>
                  <a:srgbClr val="10151F"/>
                </a:solidFill>
              </a:rPr>
              <a:t>The model claim is tied to a Kaggle Notebook run.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B9A9931-D3B1-4245-97E9-6698939C0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524250"/>
            <a:ext cx="6343650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5D6470"/>
                </a:solidFill>
              </a:defRPr>
            </a:pPr>
            <a:r>
              <a:rPr sz="2025">
                <a:solidFill>
                  <a:srgbClr val="5D6470"/>
                </a:solidFill>
              </a:rPr>
              <a:t>Official Kaggle model resource, logged environment, prompt, response, latency, and generated token count.</a:t>
            </a:r>
          </a:p>
        </p:txBody>
      </p:sp>
      <p:sp>
        <p:nvSpPr>
          <p:cNvPr id="6" name="badge-tesla-t4">
            <a:extLst xmlns:a="http://schemas.openxmlformats.org/drawingml/2006/main">
              <a:ext uri="{FF2B5EF4-FFF2-40B4-BE49-F238E27FC236}">
                <a16:creationId xmlns:a16="http://schemas.microsoft.com/office/drawing/2014/main" id="{FA812B98-EDB6-4029-A1DB-BCE57AFAA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8054340"/>
            <a:ext cx="905066" cy="37719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0151F"/>
          </a:solidFill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A70F8FF-80E0-4D67-BEFC-86493E643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8153400"/>
            <a:ext cx="5715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Tesla T4</a:t>
            </a:r>
          </a:p>
        </p:txBody>
      </p:sp>
      <p:sp>
        <p:nvSpPr>
          <p:cNvPr id="8" name="badge-160-new-tokens">
            <a:extLst xmlns:a="http://schemas.openxmlformats.org/drawingml/2006/main">
              <a:ext uri="{FF2B5EF4-FFF2-40B4-BE49-F238E27FC236}">
                <a16:creationId xmlns:a16="http://schemas.microsoft.com/office/drawing/2014/main" id="{54681026-3A2B-4552-83FB-3B89FD091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8545830"/>
            <a:ext cx="1460754" cy="37719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C857"/>
          </a:solidFill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67DD897-6209-442F-B17D-716C5FAF4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8648700"/>
            <a:ext cx="11049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0151F"/>
                </a:solidFill>
              </a:defRPr>
            </a:pPr>
            <a:r>
              <a:rPr sz="1350" b="1">
                <a:solidFill>
                  <a:srgbClr val="10151F"/>
                </a:solidFill>
              </a:rPr>
              <a:t>160 new tokens</a:t>
            </a:r>
          </a:p>
        </p:txBody>
      </p:sp>
      <p:sp>
        <p:nvSpPr>
          <p:cNvPr id="10" name="badge-18-014s-recorded-latency">
            <a:extLst xmlns:a="http://schemas.openxmlformats.org/drawingml/2006/main">
              <a:ext uri="{FF2B5EF4-FFF2-40B4-BE49-F238E27FC236}">
                <a16:creationId xmlns:a16="http://schemas.microsoft.com/office/drawing/2014/main" id="{8D550E39-3F4C-424C-9064-FBD93FEC0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9037320"/>
            <a:ext cx="2120646" cy="58293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DE2C5"/>
          </a:solidFill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FB1C212-54D6-4253-8F89-B058D20108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9124950"/>
            <a:ext cx="179070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0151F"/>
                </a:solidFill>
              </a:defRPr>
            </a:pPr>
            <a:r>
              <a:rPr sz="1350" b="1">
                <a:solidFill>
                  <a:srgbClr val="10151F"/>
                </a:solidFill>
              </a:rPr>
              <a:t>18.014s recorded latency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3CDD245-1964-4B1D-8553-4843784A49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2423" y="2047875"/>
            <a:ext cx="9497378" cy="6191250"/>
          </a:xfrm>
          <a:prstGeom xmlns:a="http://schemas.openxmlformats.org/drawingml/2006/main" prst="roundRect">
            <a:avLst>
              <a:gd name="adj" fmla="val 6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DDD0"/>
            </a:solidFill>
            <a:prstDash val="solid"/>
          </a:ln>
        </p:spPr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4dca1ade9054ba0"/>
          <a:stretch xmlns:a="http://schemas.openxmlformats.org/drawingml/2006/main"/>
        </p:blipFill>
        <p:spPr>
          <a:xfrm xmlns:a="http://schemas.openxmlformats.org/drawingml/2006/main">
            <a:off x="8047673" y="2933117"/>
            <a:ext cx="9306878" cy="4420767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172480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background">
            <a:extLst xmlns:a="http://schemas.openxmlformats.org/drawingml/2006/main">
              <a:ext uri="{FF2B5EF4-FFF2-40B4-BE49-F238E27FC236}">
                <a16:creationId xmlns:a16="http://schemas.microsoft.com/office/drawing/2014/main" id="{E95A5B98-D3D7-4031-A94E-800270AB7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51F"/>
          </a:solidFill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E42E366-71BF-4E5F-8076-63C43D3BE8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800100"/>
            <a:ext cx="4000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E2C5"/>
          </a:solidFill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9B7E12D-E2ED-4B8F-9ED2-3729633CA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723900"/>
            <a:ext cx="8001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5D6470"/>
                </a:solidFill>
              </a:defRPr>
            </a:pPr>
            <a:r>
              <a:rPr sz="1200" b="1">
                <a:solidFill>
                  <a:srgbClr val="5D6470"/>
                </a:solidFill>
              </a:rPr>
              <a:t>PRIZE STORY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7C29637-638C-4D5A-AAC5-4C68636749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123950"/>
            <a:ext cx="12172950" cy="1752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5700" b="1">
                <a:solidFill>
                  <a:srgbClr val="FFFFFF"/>
                </a:solidFill>
              </a:defRPr>
            </a:pPr>
            <a:r>
              <a:rPr sz="5700" b="1">
                <a:solidFill>
                  <a:srgbClr val="FFFFFF"/>
                </a:solidFill>
              </a:rPr>
              <a:t>Safer handoffs, faster volunteers, clearer evidence.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A35605B-6A98-4D7A-8EA8-DE62B44E2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067050"/>
            <a:ext cx="1171575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>
                <a:solidFill>
                  <a:srgbClr val="D6DEE9"/>
                </a:solidFill>
              </a:defRPr>
            </a:pPr>
            <a:r>
              <a:rPr sz="2250">
                <a:solidFill>
                  <a:srgbClr val="D6DEE9"/>
                </a:solidFill>
              </a:rPr>
              <a:t>This is deliberately narrow: one crisis workflow, visible safety constraints, public evidence, and a clear path to stronger multilingual Gemma 4 generation.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3DDA112-62B9-4CF1-885B-589F06DC0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570220"/>
            <a:ext cx="5334000" cy="2000250"/>
          </a:xfrm>
          <a:prstGeom xmlns:a="http://schemas.openxmlformats.org/drawingml/2006/main" prst="roundRect">
            <a:avLst>
              <a:gd name="adj" fmla="val 1905"/>
            </a:avLst>
          </a:prstGeom>
          <a:solidFill xmlns:a="http://schemas.openxmlformats.org/drawingml/2006/main">
            <a:srgbClr val="1B2432"/>
          </a:solidFill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A8D7780-9035-4B82-88BA-920C75550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6229350"/>
            <a:ext cx="483870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2DE2C5"/>
                </a:solidFill>
              </a:defRPr>
            </a:pPr>
            <a:r>
              <a:rPr sz="2400" b="1">
                <a:solidFill>
                  <a:srgbClr val="2DE2C5"/>
                </a:solidFill>
              </a:rPr>
              <a:t>Demo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499C346-0E48-4641-B0DA-7EE4F00D5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6705600"/>
            <a:ext cx="48387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FFFFFF"/>
                </a:solidFill>
              </a:defRPr>
            </a:pPr>
            <a:r>
              <a:rPr sz="1425">
                <a:solidFill>
                  <a:srgbClr val="FFFFFF"/>
                </a:solidFill>
              </a:rPr>
              <a:t>huier5635-cmd.github.io/resilience-copilot-gemma4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D8F9E8C-9C63-4EA3-BBD3-21F64A5F1E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5570220"/>
            <a:ext cx="5334000" cy="2000250"/>
          </a:xfrm>
          <a:prstGeom xmlns:a="http://schemas.openxmlformats.org/drawingml/2006/main" prst="roundRect">
            <a:avLst>
              <a:gd name="adj" fmla="val 1905"/>
            </a:avLst>
          </a:prstGeom>
          <a:solidFill xmlns:a="http://schemas.openxmlformats.org/drawingml/2006/main">
            <a:srgbClr val="1B2432"/>
          </a:solidFill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E76ECB5-1FA9-4E76-83BA-F003D472AC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6229350"/>
            <a:ext cx="483870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FFC857"/>
                </a:solidFill>
              </a:defRPr>
            </a:pPr>
            <a:r>
              <a:rPr sz="2400" b="1">
                <a:solidFill>
                  <a:srgbClr val="FFC857"/>
                </a:solidFill>
              </a:rPr>
              <a:t>Code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AD6E467-1B69-413B-8D8B-91347806B4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6705600"/>
            <a:ext cx="48387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FFFFFF"/>
                </a:solidFill>
              </a:defRPr>
            </a:pPr>
            <a:r>
              <a:rPr sz="1425">
                <a:solidFill>
                  <a:srgbClr val="FFFFFF"/>
                </a:solidFill>
              </a:rPr>
              <a:t>github.com/huier5635-cmd/resilience-copilot-gemma4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823C67B-2C5F-4480-97A3-7A425498CD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58650" y="5570220"/>
            <a:ext cx="5334000" cy="2000250"/>
          </a:xfrm>
          <a:prstGeom xmlns:a="http://schemas.openxmlformats.org/drawingml/2006/main" prst="roundRect">
            <a:avLst>
              <a:gd name="adj" fmla="val 1905"/>
            </a:avLst>
          </a:prstGeom>
          <a:solidFill xmlns:a="http://schemas.openxmlformats.org/drawingml/2006/main">
            <a:srgbClr val="1B2432"/>
          </a:solidFill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26818B7-628A-4955-907A-8A8CE88E7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06300" y="6210300"/>
            <a:ext cx="483870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FF5A66"/>
                </a:solidFill>
              </a:defRPr>
            </a:pPr>
            <a:r>
              <a:rPr sz="2400" b="1">
                <a:solidFill>
                  <a:srgbClr val="FF5A66"/>
                </a:solidFill>
              </a:rPr>
              <a:t>Video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1CF1F9C-EEBD-438F-8A21-F669247C9C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06300" y="6686550"/>
            <a:ext cx="48387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FFFFFF"/>
                </a:solidFill>
              </a:defRPr>
            </a:pPr>
            <a:r>
              <a:rPr sz="1650">
                <a:solidFill>
                  <a:srgbClr val="FFFFFF"/>
                </a:solidFill>
              </a:rPr>
              <a:t>youtu.be/CmqCV8Ic9cY</a:t>
            </a:r>
          </a:p>
        </p:txBody>
      </p:sp>
      <p:sp>
        <p:nvSpPr>
          <p:cNvPr id="15" name="footer">
            <a:extLst xmlns:a="http://schemas.openxmlformats.org/drawingml/2006/main">
              <a:ext uri="{FF2B5EF4-FFF2-40B4-BE49-F238E27FC236}">
                <a16:creationId xmlns:a16="http://schemas.microsoft.com/office/drawing/2014/main" id="{63CD3288-470D-4437-9683-9688EE97D6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9391650"/>
            <a:ext cx="164973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7A808A"/>
                </a:solidFill>
              </a:defRPr>
            </a:pPr>
            <a:r>
              <a:rPr sz="1125">
                <a:solidFill>
                  <a:srgbClr val="7A808A"/>
                </a:solidFill>
              </a:rPr>
              <a:t>Submitted writeup: kaggle.com/competitions/gemma-4-good-hackathon/writeups/new-writeup-1778665719423</a:t>
            </a:r>
          </a:p>
        </p:txBody>
      </p:sp>
    </p:spTree>
    <p:extLst>
      <p:ext uri="{BB962C8B-B14F-4D97-AF65-F5344CB8AC3E}">
        <p14:creationId xmlns:p14="http://schemas.microsoft.com/office/powerpoint/2010/main" val="52385328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2026-05-13T18:17:24.6490000Z</dcterms:created>
  <dcterms:modified xsi:type="dcterms:W3CDTF">2026-05-13T18:17:24.6490000Z</dcterms:modified>
</coreProperties>
</file>