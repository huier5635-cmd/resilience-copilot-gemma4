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12741ec0c849e2" /><Relationship Type="http://schemas.openxmlformats.org/officeDocument/2006/relationships/extended-properties" Target="/docProps/app.xml" Id="R2d3cb64b92d44cee" /><Relationship Type="http://schemas.openxmlformats.org/officeDocument/2006/relationships/officeDocument" Target="/ppt/presentation.xml" Id="Rd92d6612facc48b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693062185847bf"/>
  </p:sldMasterIdLst>
  <p:notesMasterIdLst>
    <p:notesMasterId xmlns:r="http://schemas.openxmlformats.org/officeDocument/2006/relationships" r:id="Rb0b057aa1e904498"/>
  </p:notesMasterIdLst>
  <p:sldIdLst>
    <p:sldId xmlns:r="http://schemas.openxmlformats.org/officeDocument/2006/relationships" id="256" r:id="Rba978d53775d4932"/>
    <p:sldId xmlns:r="http://schemas.openxmlformats.org/officeDocument/2006/relationships" id="257" r:id="R38bfb7be5c764dd6"/>
    <p:sldId xmlns:r="http://schemas.openxmlformats.org/officeDocument/2006/relationships" id="258" r:id="Rab32e21b770640ef"/>
    <p:sldId xmlns:r="http://schemas.openxmlformats.org/officeDocument/2006/relationships" id="259" r:id="R33a56228b8fd4285"/>
    <p:sldId xmlns:r="http://schemas.openxmlformats.org/officeDocument/2006/relationships" id="260" r:id="R652adc6a2e8b4a48"/>
    <p:sldId xmlns:r="http://schemas.openxmlformats.org/officeDocument/2006/relationships" id="261" r:id="Rc2a683688cbe4ac5"/>
    <p:sldId xmlns:r="http://schemas.openxmlformats.org/officeDocument/2006/relationships" id="262" r:id="Rfacf6dc3b2d84501"/>
    <p:sldId xmlns:r="http://schemas.openxmlformats.org/officeDocument/2006/relationships" id="263" r:id="R98b8864684824422"/>
    <p:sldId xmlns:r="http://schemas.openxmlformats.org/officeDocument/2006/relationships" id="264" r:id="R6946d32ae73641b4"/>
    <p:sldId xmlns:r="http://schemas.openxmlformats.org/officeDocument/2006/relationships" id="265" r:id="R2a5f08fbfe4f4ea8"/>
    <p:sldId xmlns:r="http://schemas.openxmlformats.org/officeDocument/2006/relationships" id="266" r:id="Rcc665617566f48d4"/>
    <p:sldId xmlns:r="http://schemas.openxmlformats.org/officeDocument/2006/relationships" id="267" r:id="Rda5bec4160d84d10"/>
    <p:sldId xmlns:r="http://schemas.openxmlformats.org/officeDocument/2006/relationships" id="268" r:id="Rff91b6d23aec4bfe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693062185847bf" /><Relationship Type="http://schemas.openxmlformats.org/officeDocument/2006/relationships/theme" Target="/ppt/theme/theme1.xml" Id="Rea744c6703784579" /><Relationship Type="http://schemas.openxmlformats.org/officeDocument/2006/relationships/notesMaster" Target="/ppt/notesMasters/notesMaster1.xml" Id="Rb0b057aa1e904498" /><Relationship Type="http://schemas.openxmlformats.org/officeDocument/2006/relationships/presProps" Target="/ppt/presProps.xml" Id="R30318e59966b4e54" /><Relationship Type="http://schemas.openxmlformats.org/officeDocument/2006/relationships/viewProps" Target="/ppt/viewProps.xml" Id="R5f05f4b4f4bd4ee4" /><Relationship Type="http://schemas.openxmlformats.org/officeDocument/2006/relationships/tableStyles" Target="/ppt/tableStyles.xml" Id="R5e1a80571ab841c1" /><Relationship Type="http://schemas.openxmlformats.org/officeDocument/2006/relationships/slide" Target="/ppt/slides/slide1.xml" Id="Rba978d53775d4932" /><Relationship Type="http://schemas.openxmlformats.org/officeDocument/2006/relationships/slide" Target="/ppt/slides/slide2.xml" Id="R38bfb7be5c764dd6" /><Relationship Type="http://schemas.openxmlformats.org/officeDocument/2006/relationships/slide" Target="/ppt/slides/slide3.xml" Id="Rab32e21b770640ef" /><Relationship Type="http://schemas.openxmlformats.org/officeDocument/2006/relationships/slide" Target="/ppt/slides/slide4.xml" Id="R33a56228b8fd4285" /><Relationship Type="http://schemas.openxmlformats.org/officeDocument/2006/relationships/slide" Target="/ppt/slides/slide5.xml" Id="R652adc6a2e8b4a48" /><Relationship Type="http://schemas.openxmlformats.org/officeDocument/2006/relationships/slide" Target="/ppt/slides/slide6.xml" Id="Rc2a683688cbe4ac5" /><Relationship Type="http://schemas.openxmlformats.org/officeDocument/2006/relationships/slide" Target="/ppt/slides/slide7.xml" Id="Rfacf6dc3b2d84501" /><Relationship Type="http://schemas.openxmlformats.org/officeDocument/2006/relationships/slide" Target="/ppt/slides/slide8.xml" Id="R98b8864684824422" /><Relationship Type="http://schemas.openxmlformats.org/officeDocument/2006/relationships/slide" Target="/ppt/slides/slide9.xml" Id="R6946d32ae73641b4" /><Relationship Type="http://schemas.openxmlformats.org/officeDocument/2006/relationships/slide" Target="/ppt/slides/slide10.xml" Id="R2a5f08fbfe4f4ea8" /><Relationship Type="http://schemas.openxmlformats.org/officeDocument/2006/relationships/slide" Target="/ppt/slides/slide11.xml" Id="Rcc665617566f48d4" /><Relationship Type="http://schemas.openxmlformats.org/officeDocument/2006/relationships/slide" Target="/ppt/slides/slide12.xml" Id="Rda5bec4160d84d10" /><Relationship Type="http://schemas.openxmlformats.org/officeDocument/2006/relationships/slide" Target="/ppt/slides/slide13.xml" Id="Rff91b6d23aec4b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ca954b0a13b41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6563bfbd354ccb" /><Relationship Type="http://schemas.openxmlformats.org/officeDocument/2006/relationships/notesMaster" Target="/ppt/notesMasters/notesMaster1.xml" Id="R38835c70688742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920b9d0e4b4c31" /><Relationship Type="http://schemas.openxmlformats.org/officeDocument/2006/relationships/notesMaster" Target="/ppt/notesMasters/notesMaster1.xml" Id="R9ace5b2ba87347c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897e35b8e5e4400" /><Relationship Type="http://schemas.openxmlformats.org/officeDocument/2006/relationships/notesMaster" Target="/ppt/notesMasters/notesMaster1.xml" Id="Rf1563af230f34ff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45418f5a6cd47d0" /><Relationship Type="http://schemas.openxmlformats.org/officeDocument/2006/relationships/notesMaster" Target="/ppt/notesMasters/notesMaster1.xml" Id="Ra51ad56c405f422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02e976e41f249d5" /><Relationship Type="http://schemas.openxmlformats.org/officeDocument/2006/relationships/notesMaster" Target="/ppt/notesMasters/notesMaster1.xml" Id="Rac328fe9cad64a6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b5766fcd44c4b0e" /><Relationship Type="http://schemas.openxmlformats.org/officeDocument/2006/relationships/notesMaster" Target="/ppt/notesMasters/notesMaster1.xml" Id="Rb30adf1d8201460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8fdd2d117994d04" /><Relationship Type="http://schemas.openxmlformats.org/officeDocument/2006/relationships/notesMaster" Target="/ppt/notesMasters/notesMaster1.xml" Id="R4822f8c0d2bc40e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1fc3da37a314ffa" /><Relationship Type="http://schemas.openxmlformats.org/officeDocument/2006/relationships/notesMaster" Target="/ppt/notesMasters/notesMaster1.xml" Id="R77aeb89a4a874ae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feef9ecd34a4527" /><Relationship Type="http://schemas.openxmlformats.org/officeDocument/2006/relationships/notesMaster" Target="/ppt/notesMasters/notesMaster1.xml" Id="Rc9e66dc81dba4a0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ffa78428abc40f0" /><Relationship Type="http://schemas.openxmlformats.org/officeDocument/2006/relationships/notesMaster" Target="/ppt/notesMasters/notesMaster1.xml" Id="R656db69e1190434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f07e070855f4889" /><Relationship Type="http://schemas.openxmlformats.org/officeDocument/2006/relationships/notesMaster" Target="/ppt/notesMasters/notesMaster1.xml" Id="Racf0c21fbcf546e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fcf4790e54d4b8b" /><Relationship Type="http://schemas.openxmlformats.org/officeDocument/2006/relationships/notesMaster" Target="/ppt/notesMasters/notesMaster1.xml" Id="Rb6c58176f180477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1d4da5e5786442c" /><Relationship Type="http://schemas.openxmlformats.org/officeDocument/2006/relationships/notesMaster" Target="/ppt/notesMasters/notesMaster1.xml" Id="R44e26571604346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0e5067c3a548c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ea8eedb3a1e4b2e" /><Relationship Type="http://schemas.openxmlformats.org/officeDocument/2006/relationships/slideLayout" Target="/ppt/slideLayouts/slideLayout2.xml" Id="Rb99fc4c14d714c1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9fc4c14d714c1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2f1009ef464d78" /><Relationship Type="http://schemas.openxmlformats.org/officeDocument/2006/relationships/image" Target="/ppt/media/image.png" Id="Ra94faefe13d5425c" /><Relationship Type="http://schemas.openxmlformats.org/officeDocument/2006/relationships/notesSlide" Target="/ppt/notesSlides/notesSlide1.xml" Id="R544eafc05aed4ed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4e6ab4952a4067" /><Relationship Type="http://schemas.openxmlformats.org/officeDocument/2006/relationships/image" Target="/ppt/media/image2.png" Id="Rf626fedcdd3b4dec" /><Relationship Type="http://schemas.openxmlformats.org/officeDocument/2006/relationships/notesSlide" Target="/ppt/notesSlides/notesSlide2.xml" Id="R4617009503944cb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0974d7f54342d4" /><Relationship Type="http://schemas.openxmlformats.org/officeDocument/2006/relationships/notesSlide" Target="/ppt/notesSlides/notesSlide3.xml" Id="R79b04b74be1741a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2b9918b8cfd412a" /><Relationship Type="http://schemas.openxmlformats.org/officeDocument/2006/relationships/image" Target="/ppt/media/image3.png" Id="R1f780de947d24273" /><Relationship Type="http://schemas.openxmlformats.org/officeDocument/2006/relationships/notesSlide" Target="/ppt/notesSlides/notesSlide4.xml" Id="Rfd2c8add95f34cd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5967a0248e4f27" /><Relationship Type="http://schemas.openxmlformats.org/officeDocument/2006/relationships/image" Target="/ppt/media/image4.png" Id="Ra41af1a0b4af4fce" /><Relationship Type="http://schemas.openxmlformats.org/officeDocument/2006/relationships/notesSlide" Target="/ppt/notesSlides/notesSlide5.xml" Id="R14ff1a4d7e434c5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3c09f5a70a4e85" /><Relationship Type="http://schemas.openxmlformats.org/officeDocument/2006/relationships/image" Target="/ppt/media/image5.png" Id="Rce57aae318ef494f" /><Relationship Type="http://schemas.openxmlformats.org/officeDocument/2006/relationships/notesSlide" Target="/ppt/notesSlides/notesSlide6.xml" Id="R3e707e4c8ebd49c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1da5636fb546d3" /><Relationship Type="http://schemas.openxmlformats.org/officeDocument/2006/relationships/image" Target="/ppt/media/image6.png" Id="Rdab3ba5a97264fee" /><Relationship Type="http://schemas.openxmlformats.org/officeDocument/2006/relationships/notesSlide" Target="/ppt/notesSlides/notesSlide7.xml" Id="Rdc128de6cc444a4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7f99c110da424c" /><Relationship Type="http://schemas.openxmlformats.org/officeDocument/2006/relationships/notesSlide" Target="/ppt/notesSlides/notesSlide8.xml" Id="R752c5cc4edf94da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afbf9eab1c34d5e" /><Relationship Type="http://schemas.openxmlformats.org/officeDocument/2006/relationships/image" Target="/ppt/media/image7.png" Id="R805eab8ffe674b9b" /><Relationship Type="http://schemas.openxmlformats.org/officeDocument/2006/relationships/image" Target="/ppt/media/image8.png" Id="Re19d73ba0f804d77" /><Relationship Type="http://schemas.openxmlformats.org/officeDocument/2006/relationships/image" Target="/ppt/media/image9.png" Id="Re65aa17b7b7b4e83" /><Relationship Type="http://schemas.openxmlformats.org/officeDocument/2006/relationships/notesSlide" Target="/ppt/notesSlides/notesSlide9.xml" Id="R8060be115ffa4eb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81ce0d6aa64de2" /><Relationship Type="http://schemas.openxmlformats.org/officeDocument/2006/relationships/image" Target="/ppt/media/image10.png" Id="Rbd3f0ffd61494e7f" /><Relationship Type="http://schemas.openxmlformats.org/officeDocument/2006/relationships/notesSlide" Target="/ppt/notesSlides/notesSlide10.xml" Id="Rf1eefc929b78420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5ddc30c0eb48f9" /><Relationship Type="http://schemas.openxmlformats.org/officeDocument/2006/relationships/notesSlide" Target="/ppt/notesSlides/notesSlide11.xml" Id="R4f314097b6214ef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54bc90dc154bf9" /><Relationship Type="http://schemas.openxmlformats.org/officeDocument/2006/relationships/image" Target="/ppt/media/image11.png" Id="R020ef005f7934266" /><Relationship Type="http://schemas.openxmlformats.org/officeDocument/2006/relationships/notesSlide" Target="/ppt/notesSlides/notesSlide12.xml" Id="R2fb557154200405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f79895908c4ba7" /><Relationship Type="http://schemas.openxmlformats.org/officeDocument/2006/relationships/image" Target="/ppt/media/image12.png" Id="R511ec0853ec546cd" /><Relationship Type="http://schemas.openxmlformats.org/officeDocument/2006/relationships/image" Target="/ppt/media/image13.png" Id="R98faa0cdafa34035" /><Relationship Type="http://schemas.openxmlformats.org/officeDocument/2006/relationships/notesSlide" Target="/ppt/notesSlides/notesSlide13.xml" Id="R752f5dc3856943c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CA9A7673-A542-4F39-A5CC-9B670E9A4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14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75874F-67C8-42CE-9941-B22D95C4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oundRect">
            <a:avLst>
              <a:gd name="adj" fmla="val 370"/>
            </a:avLst>
          </a:prstGeom>
          <a:solidFill xmlns:a="http://schemas.openxmlformats.org/drawingml/2006/main">
            <a:srgbClr val="08111F"/>
          </a:solidFill>
          <a:ln xmlns:a="http://schemas.openxmlformats.org/drawingml/2006/main" w="9525">
            <a:solidFill>
              <a:srgbClr val="050B14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4faefe13d5425c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DBBD37-D076-4F05-BF8F-068D7999D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14">
              <a:alpha val="58000"/>
            </a:srgbClr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F9FD60-8C47-4750-A31E-676EB668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0075"/>
            <a:ext cx="11430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F4D4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ABA38B-37D7-4CB8-804B-47ED7448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04850"/>
            <a:ext cx="838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t>Gemma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A2CCD9-4C72-44AE-9A76-22C5A8D8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600075"/>
            <a:ext cx="21336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001AF6-7C8D-4ED8-8F4D-EDAD6A0A8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704850"/>
            <a:ext cx="1828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t>Safety-bounded agent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A6F4A7-B16C-494E-815C-C6FB81F4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600075"/>
            <a:ext cx="10668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39C108-9E3A-4662-8DFB-3DDA5306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704850"/>
            <a:ext cx="762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t>EXP-029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30F9CC-372E-4A34-A089-500A553D2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4667250" cy="270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850" b="1">
                <a:solidFill>
                  <a:srgbClr val="FFFFFF"/>
                </a:solidFill>
              </a:defRPr>
            </a:pPr>
            <a:r>
              <a:t>Resilience</a:t>
            </a:r>
          </a:p>
          <a:p xmlns:a="http://schemas.openxmlformats.org/drawingml/2006/main">
            <a:pPr>
              <a:defRPr sz="8850" b="1">
                <a:solidFill>
                  <a:srgbClr val="FFFFFF"/>
                </a:solidFill>
              </a:defRPr>
            </a:pPr>
            <a:r>
              <a:t>Copilot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476C77-A9F6-4529-BEA3-52CA2C103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15000"/>
            <a:ext cx="85534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E5F3FF"/>
                </a:solidFill>
              </a:defRPr>
            </a:pPr>
            <a:r>
              <a:t>Rescue Command Center demo: turning chaotic disaster calls into safer, auditable responder handoffs.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32FC85-F6B1-43DE-AF70-A0EDB2336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286750"/>
            <a:ext cx="4033838" cy="1333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0D1B2A"/>
          </a:solidFill>
          <a:ln xmlns:a="http://schemas.openxmlformats.org/drawingml/2006/main" w="9525">
            <a:solidFill>
              <a:srgbClr val="243E5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72AA82-9656-4A64-AB84-7F2977941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8534400"/>
            <a:ext cx="36195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20F4D4"/>
                </a:solidFill>
              </a:defRPr>
            </a:pPr>
            <a:r>
              <a:t>2/2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2A3B26-8EDE-4F5E-B642-224965B8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9163050"/>
            <a:ext cx="3619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CE8F6"/>
                </a:solidFill>
              </a:defRPr>
            </a:pPr>
            <a:r>
              <a:t>demo validation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678CA9-C603-4B7B-8B1C-D721B066E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4438" y="8286750"/>
            <a:ext cx="4033838" cy="1333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0D1B2A"/>
          </a:solidFill>
          <a:ln xmlns:a="http://schemas.openxmlformats.org/drawingml/2006/main" w="9525">
            <a:solidFill>
              <a:srgbClr val="243E5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19DC3A-86EB-4789-8839-FD55A063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8534400"/>
            <a:ext cx="36195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46E88B"/>
                </a:solidFill>
              </a:defRPr>
            </a:pPr>
            <a:r>
              <a:t>2/2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FD6DBC-161C-4C00-ACF3-3859770E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9163050"/>
            <a:ext cx="3619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CE8F6"/>
                </a:solidFill>
              </a:defRPr>
            </a:pPr>
            <a:r>
              <a:t>holdout validation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9E9215-3625-4E14-997D-A2DD2D6F5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8286750"/>
            <a:ext cx="4033838" cy="1333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0D1B2A"/>
          </a:solidFill>
          <a:ln xmlns:a="http://schemas.openxmlformats.org/drawingml/2006/main" w="9525">
            <a:solidFill>
              <a:srgbClr val="243E5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C79F78-AE3B-4289-A7CD-0D4700C5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8534400"/>
            <a:ext cx="36195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6B35"/>
                </a:solidFill>
              </a:defRPr>
            </a:pPr>
            <a:r>
              <a:t>15/15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2052BA-2EDA-4F92-8CDB-EB859C2D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9163050"/>
            <a:ext cx="3619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CE8F6"/>
                </a:solidFill>
              </a:defRPr>
            </a:pPr>
            <a:r>
              <a:t>stress validation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08FEF1-7391-44E5-A8B3-9F7B156E3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5013" y="8286750"/>
            <a:ext cx="4033838" cy="1333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0D1B2A"/>
          </a:solidFill>
          <a:ln xmlns:a="http://schemas.openxmlformats.org/drawingml/2006/main" w="9525">
            <a:solidFill>
              <a:srgbClr val="243E5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CBD0C3-00B5-4561-8389-601161FB4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8534400"/>
            <a:ext cx="36195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B17CFF"/>
                </a:solidFill>
              </a:defRPr>
            </a:pPr>
            <a:r>
              <a:t>53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FB5E50-88AB-481F-9E77-E8D4F03E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9163050"/>
            <a:ext cx="3619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CE8F6"/>
                </a:solidFill>
              </a:defRPr>
            </a:pPr>
            <a:r>
              <a:t>bounded memory records</a:t>
            </a:r>
          </a:p>
        </p:txBody>
      </p:sp>
    </p:spTree>
    <p:extLst>
      <p:ext uri="{BB962C8B-B14F-4D97-AF65-F5344CB8AC3E}">
        <p14:creationId xmlns:p14="http://schemas.microsoft.com/office/powerpoint/2010/main" val="131823482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5088B11-EF18-4F6D-B5F1-6F70E9DE8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14"/>
          </a:solidFill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92B2FF4C-ECCF-4DC9-9280-1B1DD30B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F4D4"/>
          </a:solidFill>
        </p:spPr>
      </p:sp>
      <p:sp>
        <p:nvSpPr>
          <p:cNvPr id="3" name="hotline-accent">
            <a:extLst xmlns:a="http://schemas.openxmlformats.org/drawingml/2006/main">
              <a:ext uri="{FF2B5EF4-FFF2-40B4-BE49-F238E27FC236}">
                <a16:creationId xmlns:a16="http://schemas.microsoft.com/office/drawing/2014/main" id="{E469F4D3-AAE6-49C8-B212-6A12C2A8F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95E19D6-51B6-43A4-A1C9-A2DEE4005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438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4E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7C69C7-214B-4286-8B8B-EDD95C21C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47700"/>
            <a:ext cx="1028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EB3C9"/>
                </a:solidFill>
              </a:defRPr>
            </a:pPr>
            <a:r>
              <a:t>WHY IT MATTERS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C4B101-C5EE-43AD-9F72-AF74299F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85850"/>
            <a:ext cx="7086600" cy="3486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FFFFF"/>
                </a:solidFill>
              </a:defRPr>
            </a:pPr>
            <a:r>
              <a:t>A phone call can become a safety-critical triage problem.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91FF86-7D2E-452B-BEFC-F18CBA366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24400"/>
            <a:ext cx="66675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B9C7D8"/>
                </a:solidFill>
              </a:defRPr>
            </a:pPr>
            <a:r>
              <a:t>The dangerous failure mode is not silence. It is fluent confidence: inventing shelter capacity, casual reassurance, or medical-adjacent advice when responders need verified constraints.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88A7D3-6CFB-4D92-8877-2BB4BB668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20740"/>
            <a:ext cx="6995541" cy="4095750"/>
          </a:xfrm>
          <a:prstGeom xmlns:a="http://schemas.openxmlformats.org/drawingml/2006/main" prst="roundRect">
            <a:avLst>
              <a:gd name="adj" fmla="val 930"/>
            </a:avLst>
          </a:prstGeom>
          <a:solidFill xmlns:a="http://schemas.openxmlformats.org/drawingml/2006/main">
            <a:srgbClr val="0A1524"/>
          </a:solidFill>
          <a:ln xmlns:a="http://schemas.openxmlformats.org/drawingml/2006/main" w="9525">
            <a:solidFill>
              <a:srgbClr val="334B6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3BDA0E-D8E8-4FED-9664-8837C2AF5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181725"/>
            <a:ext cx="12001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8727BD-AB41-4E39-B032-577574EC6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286500"/>
            <a:ext cx="914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t>LIVE CALL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8D61D9-DCAE-4C1F-9709-D305FFD5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248400"/>
            <a:ext cx="5143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t>Incoming case note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EDE0A4-AE73-4DFC-B384-A3678102F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743700"/>
            <a:ext cx="64579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ECF6FF"/>
                </a:solidFill>
              </a:defRPr>
            </a:pPr>
            <a:r>
              <a:t>Older adult uses oxygen. Power is out. Backup battery is nearly empty. Family asks if they can wait until morning. A social post claims a shelter has beds, but transport is unavailable.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41A61E-9C8C-41A9-B863-171AAEA6F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126730"/>
            <a:ext cx="753523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3B4E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E49FFE-43F2-40D5-82DB-1C533CA3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2296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t>oxygen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28D146-1896-444C-B288-6EC4D61A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5573" y="8126730"/>
            <a:ext cx="1183481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72960F-420A-4090-9E86-15EF57106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8134350"/>
            <a:ext cx="8763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t>power outage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6498BC-03EF-46EC-9EF9-F17E063F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304" y="8126730"/>
            <a:ext cx="7008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020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4D1D69-DD1F-4441-8DC2-4200D3FAA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8229600"/>
            <a:ext cx="381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t>rumor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B9509E-A1FE-4258-B50A-A0EA410BD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404" y="8126730"/>
            <a:ext cx="1364932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4B7FF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592FA7-CA23-4517-A297-FAD3C9C89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8134350"/>
            <a:ext cx="1066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t>transport barrier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19B6DA-B36C-44B2-A82B-7B30F0AE3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4741" y="552450"/>
            <a:ext cx="9273159" cy="9464040"/>
          </a:xfrm>
          <a:prstGeom xmlns:a="http://schemas.openxmlformats.org/drawingml/2006/main" prst="roundRect">
            <a:avLst>
              <a:gd name="adj" fmla="val 411"/>
            </a:avLst>
          </a:prstGeom>
          <a:solidFill xmlns:a="http://schemas.openxmlformats.org/drawingml/2006/main">
            <a:srgbClr val="08111F"/>
          </a:solidFill>
          <a:ln xmlns:a="http://schemas.openxmlformats.org/drawingml/2006/main" w="9525">
            <a:solidFill>
              <a:srgbClr val="334B68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26fedcdd3b4dec"/>
          <a:stretch xmlns:a="http://schemas.openxmlformats.org/drawingml/2006/main"/>
        </p:blipFill>
        <p:spPr>
          <a:xfrm xmlns:a="http://schemas.openxmlformats.org/drawingml/2006/main">
            <a:off x="8214741" y="2676394"/>
            <a:ext cx="9273159" cy="5216152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E6A968-31D3-46C2-9E02-2CF66A634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0"/>
            <a:ext cx="16687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C8EA4"/>
                </a:solidFill>
              </a:defRPr>
            </a:pPr>
            <a:r>
              <a:t>Design goal: let Gemma 4 write clearly, while deterministic safety systems decide what cannot be claimed.</a:t>
            </a:r>
          </a:p>
        </p:txBody>
      </p:sp>
    </p:spTree>
    <p:extLst>
      <p:ext uri="{BB962C8B-B14F-4D97-AF65-F5344CB8AC3E}">
        <p14:creationId xmlns:p14="http://schemas.microsoft.com/office/powerpoint/2010/main" val="106789690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8535648C-4320-45F1-B6C7-A2D3AB278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14"/>
          </a:solidFill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9988A2C5-F836-4AF9-B495-E56E75B63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F4D4"/>
          </a:solidFill>
        </p:spPr>
      </p:sp>
      <p:sp>
        <p:nvSpPr>
          <p:cNvPr id="3" name="hotline-accent">
            <a:extLst xmlns:a="http://schemas.openxmlformats.org/drawingml/2006/main">
              <a:ext uri="{FF2B5EF4-FFF2-40B4-BE49-F238E27FC236}">
                <a16:creationId xmlns:a16="http://schemas.microsoft.com/office/drawing/2014/main" id="{CBA09607-A381-4B61-B1B1-1CB60AA5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FD495DB-223D-4B67-BED1-4EB5397A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438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F4D4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B08377-7565-4E07-AED9-22E98250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71500"/>
            <a:ext cx="1390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EB3C9"/>
                </a:solidFill>
              </a:defRPr>
            </a:pPr>
            <a:r>
              <a:t>SYSTEM ARCHITECTURE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9F0001-D75E-4004-B715-ECA2CB67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09650"/>
            <a:ext cx="12420600" cy="17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FFFFF"/>
                </a:solidFill>
              </a:defRPr>
            </a:pPr>
            <a:r>
              <a:t>Rescue Command Center: bounded agent loop.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C08440-D75E-46A3-BFAE-3CC49F24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13710"/>
            <a:ext cx="5029200" cy="169545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0C1727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D93C4B-F68A-46A1-BE48-B81517FF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576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F635B8-F0C3-4A69-947F-33733B282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81400"/>
            <a:ext cx="4419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t>Planner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952744-2563-4213-B61A-1823E0C13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43350"/>
            <a:ext cx="4648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7D8"/>
                </a:solidFill>
              </a:defRPr>
            </a:pPr>
            <a:r>
              <a:t>Chooses the analysis route and assigns specialist checks.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0F4295-68C5-4952-A410-6A6B34AC8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09900"/>
            <a:ext cx="457200" cy="3067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F4D4"/>
                </a:solidFill>
              </a:defRPr>
            </a:pPr>
            <a: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69FA0C-65E1-4D1D-87F3-5AF57FBC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13710"/>
            <a:ext cx="5029200" cy="169545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0C1727"/>
          </a:solidFill>
          <a:ln xmlns:a="http://schemas.openxmlformats.org/drawingml/2006/main" w="9525">
            <a:solidFill>
              <a:srgbClr val="44B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8A3705-FB03-465F-8058-BA3874C0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6576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B7FF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C5B6F8-6D95-4C0C-AEA7-65873A0F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581400"/>
            <a:ext cx="4419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t>Coordinator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AD0191-0C6D-40DC-AF0A-35115AB5A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43350"/>
            <a:ext cx="4648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7D8"/>
                </a:solidFill>
              </a:defRPr>
            </a:pPr>
            <a:r>
              <a:t>Combines case note, playbook, memory, and output contract.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77E814-8329-48CF-B78F-426E69CFF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3009900"/>
            <a:ext cx="457200" cy="3067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F4D4"/>
                </a:solidFill>
              </a:defRPr>
            </a:pPr>
            <a:r>
              <a:t>-&gt;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5E4E9B-E071-4DAA-98E2-09DF29A4C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3013710"/>
            <a:ext cx="5029200" cy="169545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0C1727"/>
          </a:solidFill>
          <a:ln xmlns:a="http://schemas.openxmlformats.org/drawingml/2006/main" w="9525">
            <a:solidFill>
              <a:srgbClr val="FF3B4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1F7518-7DF2-4EC0-BAC3-D7AB104D2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36576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4E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14D242-8DBA-4CD0-A042-70A1B90B1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3581400"/>
            <a:ext cx="4419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t>Specialists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DA1DB0-FB3E-4FCB-8392-6C04A255F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3943350"/>
            <a:ext cx="4648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7D8"/>
                </a:solidFill>
              </a:defRPr>
            </a:pPr>
            <a:r>
              <a:t>Risk, language access, rumor, medical-power, transport.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406405-D269-4916-8B05-890CF5C9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40780"/>
            <a:ext cx="5029200" cy="169545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0C1727"/>
          </a:solidFill>
          <a:ln xmlns:a="http://schemas.openxmlformats.org/drawingml/2006/main" w="9525">
            <a:solidFill>
              <a:srgbClr val="B17C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6D83F4-132D-4C91-A2F4-8B0F2125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8961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17CFF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BA589F-E72C-45C7-94FC-0D04B9697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19900"/>
            <a:ext cx="4419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t>Memory + Skills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09E705-4363-4F0A-9673-0D0DC9998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62800"/>
            <a:ext cx="4648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7D8"/>
                </a:solidFill>
              </a:defRPr>
            </a:pPr>
            <a:r>
              <a:t>Retrieves validation experience and reusable tactics.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E8BD43-496F-463C-B1B8-37254F86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248400"/>
            <a:ext cx="457200" cy="3067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F4D4"/>
                </a:solidFill>
              </a:defRPr>
            </a:pPr>
            <a:r>
              <a:t>-&gt;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D09CAD-8F65-4EFD-832E-BDB688C86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6240780"/>
            <a:ext cx="5029200" cy="169545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0C1727"/>
          </a:solidFill>
          <a:ln xmlns:a="http://schemas.openxmlformats.org/drawingml/2006/main" w="9525">
            <a:solidFill>
              <a:srgbClr val="46E88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592CFA-7B5B-4756-B53E-F625CC57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68961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E88B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CAD8EC-717B-4ACA-B884-A05D8A0C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6819900"/>
            <a:ext cx="4419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t>Gemma 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51BD4A-C15F-4CDA-A1C2-AB6066FC9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7162800"/>
            <a:ext cx="4648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7D8"/>
                </a:solidFill>
              </a:defRPr>
            </a:pPr>
            <a:r>
              <a:t>Drafts responder-facing phrasing under constraints.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DB3691-6E41-4BAD-9AB6-63771C1D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6248400"/>
            <a:ext cx="457200" cy="3067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F4D4"/>
                </a:solidFill>
              </a:defRPr>
            </a:pPr>
            <a:r>
              <a:t>-&gt;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B645AF-1540-4179-8BA3-8A5E26E54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6240780"/>
            <a:ext cx="5029200" cy="169545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0C1727"/>
          </a:solidFill>
          <a:ln xmlns:a="http://schemas.openxmlformats.org/drawingml/2006/main" w="9525">
            <a:solidFill>
              <a:srgbClr val="FFB02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F22408-4A23-436A-A514-68A92B16A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68961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020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744370-81AB-4DAE-B5D2-CDC63D679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6819900"/>
            <a:ext cx="4419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t>Safety Contract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2EE0FC4-483C-40BD-B054-FAA213596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7162800"/>
            <a:ext cx="4648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7D8"/>
                </a:solidFill>
              </a:defRPr>
            </a:pPr>
            <a:r>
              <a:t>Blocks unsupported claims and exports audit trace.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6C9891C-181C-41E7-ACE1-61BF7E108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63100"/>
            <a:ext cx="16687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C8EA4"/>
                </a:solidFill>
              </a:defRPr>
            </a:pPr>
            <a:r>
              <a:t>Autonomy is bounded: route selection, memory retrieval, skill selection, and reflection. No emergency calls, diagnosis, booking, or live capacity promises.</a:t>
            </a:r>
          </a:p>
        </p:txBody>
      </p:sp>
    </p:spTree>
    <p:extLst>
      <p:ext uri="{BB962C8B-B14F-4D97-AF65-F5344CB8AC3E}">
        <p14:creationId xmlns:p14="http://schemas.microsoft.com/office/powerpoint/2010/main" val="106479938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007A66ED-DDCE-4610-A396-3486CE3C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14"/>
          </a:solidFill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5731345B-D866-443A-A596-F9665E0D8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F4D4"/>
          </a:solidFill>
        </p:spPr>
      </p:sp>
      <p:sp>
        <p:nvSpPr>
          <p:cNvPr id="3" name="hotline-accent">
            <a:extLst xmlns:a="http://schemas.openxmlformats.org/drawingml/2006/main">
              <a:ext uri="{FF2B5EF4-FFF2-40B4-BE49-F238E27FC236}">
                <a16:creationId xmlns:a16="http://schemas.microsoft.com/office/drawing/2014/main" id="{75B6E42B-17AB-4D2C-A87C-0F7531940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0C10373-01B0-424B-BDCC-7CEBDC756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438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EB6963-7CE4-4133-A17F-77211AFB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71500"/>
            <a:ext cx="914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EB3C9"/>
                </a:solidFill>
              </a:defRPr>
            </a:pPr>
            <a:r>
              <a:t>CASE FLOW 1/5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8A9266-8332-44A5-A07F-0B15AEC89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85850"/>
            <a:ext cx="7162800" cy="17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FFFFF"/>
                </a:solidFill>
              </a:defRPr>
            </a:pPr>
            <a:r>
              <a:t>Incoming Call / Case Note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A7B995-ED8C-4688-94C9-A8EC3B140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90850"/>
            <a:ext cx="70104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B9C7D8"/>
                </a:solidFill>
              </a:defRPr>
            </a:pPr>
            <a:r>
              <a:t>The first decision is not what to say. It is what must be treated as risky before generation begins.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ADBA15-1643-4528-8B49-CEB5441F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229725"/>
            <a:ext cx="1355446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7874D5-B951-4E68-BCDD-135CDE8B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9372600"/>
            <a:ext cx="1181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1220"/>
                </a:solidFill>
              </a:defRPr>
            </a:pPr>
            <a:r>
              <a:t>1. CALL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52D42D-A54D-4887-8EF4-BD0F9C0D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0796" y="9229725"/>
            <a:ext cx="1355446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2940"/>
          </a:solidFill>
          <a:ln xmlns:a="http://schemas.openxmlformats.org/drawingml/2006/main" w="9525">
            <a:solidFill>
              <a:srgbClr val="2B3A5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075D60-7C68-468C-A9A1-AA56931FC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9372600"/>
            <a:ext cx="1181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1A4BA"/>
                </a:solidFill>
              </a:defRPr>
            </a:pPr>
            <a:r>
              <a:t>2. SIGNALS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5DECD0-CF99-40F3-B660-EC6DCD944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1491" y="9229725"/>
            <a:ext cx="1355446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2940"/>
          </a:solidFill>
          <a:ln xmlns:a="http://schemas.openxmlformats.org/drawingml/2006/main" w="9525">
            <a:solidFill>
              <a:srgbClr val="2B3A5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ACFBF8-2F4A-43B2-AA03-28DB7D79A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9372600"/>
            <a:ext cx="1181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1A4BA"/>
                </a:solidFill>
              </a:defRPr>
            </a:pPr>
            <a:r>
              <a:t>3. MEMORY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F1B856-E3F1-49D6-AB47-F9C200762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2187" y="9229725"/>
            <a:ext cx="1355446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2940"/>
          </a:solidFill>
          <a:ln xmlns:a="http://schemas.openxmlformats.org/drawingml/2006/main" w="9525">
            <a:solidFill>
              <a:srgbClr val="2B3A5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D2789A-CD30-4D0A-AE9C-08A5901D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9372600"/>
            <a:ext cx="1181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1A4BA"/>
                </a:solidFill>
              </a:defRPr>
            </a:pPr>
            <a:r>
              <a:t>4. TOOLS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F9E7CF-67A0-4324-B9BF-CBDAF9EF4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2882" y="9229725"/>
            <a:ext cx="1355446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2940"/>
          </a:solidFill>
          <a:ln xmlns:a="http://schemas.openxmlformats.org/drawingml/2006/main" w="9525">
            <a:solidFill>
              <a:srgbClr val="2B3A5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21FB73-01A9-4719-B552-3BB52A3AB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9372600"/>
            <a:ext cx="1181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1A4BA"/>
                </a:solidFill>
              </a:defRPr>
            </a:pPr>
            <a:r>
              <a:t>5. BRIEF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DECE61-F43B-404E-986F-11C6E46A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7428" y="1381125"/>
            <a:ext cx="4762500" cy="7524750"/>
          </a:xfrm>
          <a:prstGeom xmlns:a="http://schemas.openxmlformats.org/drawingml/2006/main" prst="roundRect">
            <a:avLst>
              <a:gd name="adj" fmla="val 800"/>
            </a:avLst>
          </a:prstGeom>
          <a:solidFill xmlns:a="http://schemas.openxmlformats.org/drawingml/2006/main">
            <a:srgbClr val="020712"/>
          </a:solidFill>
          <a:ln xmlns:a="http://schemas.openxmlformats.org/drawingml/2006/main" w="19050">
            <a:solidFill>
              <a:srgbClr val="384C6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153887-93EF-4BBE-B10C-FEC782367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8878" y="1552575"/>
            <a:ext cx="4419600" cy="7181850"/>
          </a:xfrm>
          <a:prstGeom xmlns:a="http://schemas.openxmlformats.org/drawingml/2006/main" prst="roundRect">
            <a:avLst>
              <a:gd name="adj" fmla="val 862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9525">
            <a:solidFill>
              <a:srgbClr val="17263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F0557D-2A4B-48F5-9A9F-170030C5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71650"/>
            <a:ext cx="4000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6B35"/>
                </a:solidFill>
              </a:defRPr>
            </a:pPr>
            <a:r>
              <a:t>CALL INTAKE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05E864-B50B-455A-9F32-138C4C644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71700"/>
            <a:ext cx="40005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FFFFFF"/>
                </a:solidFill>
              </a:defRPr>
            </a:pPr>
            <a:r>
              <a:t>Oxygen device. Power out. Battery low. Shelter rumor. No transport.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A4DFC9-FBD9-453A-AEC5-7ABD5097E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8428" y="2939415"/>
            <a:ext cx="4000500" cy="4000500"/>
          </a:xfrm>
          <a:prstGeom xmlns:a="http://schemas.openxmlformats.org/drawingml/2006/main" prst="roundRect">
            <a:avLst>
              <a:gd name="adj" fmla="val 952"/>
            </a:avLst>
          </a:prstGeom>
          <a:solidFill xmlns:a="http://schemas.openxmlformats.org/drawingml/2006/main">
            <a:srgbClr val="08111F"/>
          </a:solidFill>
          <a:ln xmlns:a="http://schemas.openxmlformats.org/drawingml/2006/main" w="9525">
            <a:solidFill>
              <a:srgbClr val="263B58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780de947d24273"/>
          <a:stretch xmlns:a="http://schemas.openxmlformats.org/drawingml/2006/main"/>
        </p:blipFill>
        <p:spPr>
          <a:xfrm xmlns:a="http://schemas.openxmlformats.org/drawingml/2006/main">
            <a:off x="8758428" y="3814524"/>
            <a:ext cx="4000500" cy="225028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15053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D36D7ACE-E5FD-4F7F-A34E-FFC6B5D08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14"/>
          </a:solidFill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C9F570D4-7C35-4236-9C2F-565F7B53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F4D4"/>
          </a:solidFill>
        </p:spPr>
      </p:sp>
      <p:sp>
        <p:nvSpPr>
          <p:cNvPr id="3" name="hotline-accent">
            <a:extLst xmlns:a="http://schemas.openxmlformats.org/drawingml/2006/main">
              <a:ext uri="{FF2B5EF4-FFF2-40B4-BE49-F238E27FC236}">
                <a16:creationId xmlns:a16="http://schemas.microsoft.com/office/drawing/2014/main" id="{D1566817-4105-4ACA-B7AB-3C0DE5D15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24E2103-8B6F-4FE0-BF59-341B96268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438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4E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A21C6D-B381-4655-96B9-E7C8BFCA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71500"/>
            <a:ext cx="914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EB3C9"/>
                </a:solidFill>
              </a:defRPr>
            </a:pPr>
            <a:r>
              <a:t>CASE FLOW 2/5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18F390-FDA7-4DF3-9791-B0EFE4CF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85850"/>
            <a:ext cx="71628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FFFFF"/>
                </a:solidFill>
              </a:defRPr>
            </a:pPr>
            <a:r>
              <a:t>Risk Signal Detection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94D2D2-777F-4B79-BFA3-FFC2B325D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33600"/>
            <a:ext cx="7219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B9C7D8"/>
                </a:solidFill>
              </a:defRPr>
            </a:pPr>
            <a:r>
              <a:t>The deterministic sidecar turns ambiguous prose into explicit risk labels, review reasons, and forbidden claim classes.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B6D41C-AB2F-480E-A16C-1954689C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229725"/>
            <a:ext cx="1355446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BF79BE-E914-4BA2-B6CE-DB05BABF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9372600"/>
            <a:ext cx="1181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1220"/>
                </a:solidFill>
              </a:defRPr>
            </a:pPr>
            <a:r>
              <a:t>1. CALL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EBA0C1-52D3-42F0-B57B-A6777509C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0796" y="9229725"/>
            <a:ext cx="1355446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3B4E"/>
          </a:solidFill>
          <a:ln xmlns:a="http://schemas.openxmlformats.org/drawingml/2006/main" w="9525">
            <a:solidFill>
              <a:srgbClr val="FF3B4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9BA24F-1C43-4B69-8E24-15D562A6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9372600"/>
            <a:ext cx="1181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1220"/>
                </a:solidFill>
              </a:defRPr>
            </a:pPr>
            <a:r>
              <a:t>2. SIGNALS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2F6848-367D-409A-8697-2B4ECB89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1491" y="9229725"/>
            <a:ext cx="1355446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2940"/>
          </a:solidFill>
          <a:ln xmlns:a="http://schemas.openxmlformats.org/drawingml/2006/main" w="9525">
            <a:solidFill>
              <a:srgbClr val="2B3A5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3AFAE0-B476-4A6A-9DD9-9B46024B9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9372600"/>
            <a:ext cx="1181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1A4BA"/>
                </a:solidFill>
              </a:defRPr>
            </a:pPr>
            <a:r>
              <a:t>3. MEMORY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514895-BE01-44B5-A5F8-8D733CE68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2187" y="9229725"/>
            <a:ext cx="1355446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2940"/>
          </a:solidFill>
          <a:ln xmlns:a="http://schemas.openxmlformats.org/drawingml/2006/main" w="9525">
            <a:solidFill>
              <a:srgbClr val="2B3A5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302416-18ED-47C7-978E-4935DC07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9372600"/>
            <a:ext cx="1181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1A4BA"/>
                </a:solidFill>
              </a:defRPr>
            </a:pPr>
            <a:r>
              <a:t>4. TOOLS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F21ADD-906C-49F3-A496-99B2C1B5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2882" y="9229725"/>
            <a:ext cx="1355446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2940"/>
          </a:solidFill>
          <a:ln xmlns:a="http://schemas.openxmlformats.org/drawingml/2006/main" w="9525">
            <a:solidFill>
              <a:srgbClr val="2B3A5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AB581F-95E3-477B-BA0D-65EA89BEC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9372600"/>
            <a:ext cx="1181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1A4BA"/>
                </a:solidFill>
              </a:defRPr>
            </a:pPr>
            <a:r>
              <a:t>5. BRIEF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A7CEF4-399E-492B-BC6C-4E146196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7428" y="552450"/>
            <a:ext cx="4094424" cy="9182100"/>
          </a:xfrm>
          <a:prstGeom xmlns:a="http://schemas.openxmlformats.org/drawingml/2006/main" prst="roundRect">
            <a:avLst>
              <a:gd name="adj" fmla="val 931"/>
            </a:avLst>
          </a:prstGeom>
          <a:solidFill xmlns:a="http://schemas.openxmlformats.org/drawingml/2006/main">
            <a:srgbClr val="08111F"/>
          </a:solidFill>
          <a:ln xmlns:a="http://schemas.openxmlformats.org/drawingml/2006/main" w="9525">
            <a:solidFill>
              <a:srgbClr val="385876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1af1a0b4af4fce"/>
          <a:stretch xmlns:a="http://schemas.openxmlformats.org/drawingml/2006/main"/>
        </p:blipFill>
        <p:spPr>
          <a:xfrm xmlns:a="http://schemas.openxmlformats.org/drawingml/2006/main">
            <a:off x="8377428" y="3991943"/>
            <a:ext cx="4094424" cy="2303114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4F092F-5BEA-4C88-8FCD-1DEA11C56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1402" y="2057400"/>
            <a:ext cx="4806498" cy="14287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0C1727"/>
          </a:solidFill>
          <a:ln xmlns:a="http://schemas.openxmlformats.org/drawingml/2006/main" w="9525">
            <a:solidFill>
              <a:srgbClr val="FF3B4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D5DFB5-05D9-44B6-ACD6-EFFC093E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25717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4E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358B38-AC6D-4F5F-8B99-050DCE357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2495550"/>
            <a:ext cx="4191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t>HIGH RISK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66E880-C997-4B9E-B5E1-007C00C5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2857500"/>
            <a:ext cx="4419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7D8"/>
                </a:solidFill>
              </a:defRPr>
            </a:pPr>
            <a:r>
              <a:t>Power-dependent oxygen + battery depletion.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3E57D5-10A4-4578-BAD0-4FF10A9F3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1402" y="3638550"/>
            <a:ext cx="4806498" cy="14287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0C1727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69C79B-8D93-4562-9BE4-0DB43D385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4152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91F969-14C0-4412-B3E8-881E413E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4076700"/>
            <a:ext cx="4191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t>Human review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2C315B-8A17-4734-B256-D661BF126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4438650"/>
            <a:ext cx="4419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7D8"/>
                </a:solidFill>
              </a:defRPr>
            </a:pPr>
            <a:r>
              <a:t>Medical-adjacent danger; responder routing required.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2ACAAE-73B0-4F74-AABB-5C800F617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1402" y="5219700"/>
            <a:ext cx="4806498" cy="14287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0C1727"/>
          </a:solidFill>
          <a:ln xmlns:a="http://schemas.openxmlformats.org/drawingml/2006/main" w="9525">
            <a:solidFill>
              <a:srgbClr val="FFB02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2180B5-C360-4BBF-AA2F-110E26E0C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5734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020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116DCD-DE4B-4F73-9D3C-A550A7FC6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5657850"/>
            <a:ext cx="4191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t>Rumor quarantine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9A8195-4BDC-4DDD-9F63-77180789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6019800"/>
            <a:ext cx="4419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7D8"/>
                </a:solidFill>
              </a:defRPr>
            </a:pPr>
            <a:r>
              <a:t>Social-media shelter claim cannot be treated as verified.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6685FF-05E3-4A1B-8ACA-6666038E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1402" y="6800850"/>
            <a:ext cx="4806498" cy="14287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0C1727"/>
          </a:solidFill>
          <a:ln xmlns:a="http://schemas.openxmlformats.org/drawingml/2006/main" w="9525">
            <a:solidFill>
              <a:srgbClr val="44B7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5F5436-F5FA-4935-80C6-7700B239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73152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B7FF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F92783-B462-45BE-B1B4-AE83C895A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7239000"/>
            <a:ext cx="4191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t>Blocked claims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C4254D7-158F-4A84-9253-FAE619EB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7600950"/>
            <a:ext cx="4419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7D8"/>
                </a:solidFill>
              </a:defRPr>
            </a:pPr>
            <a:r>
              <a:t>No wait-until-morning reassurance; no invented transport.</a:t>
            </a:r>
          </a:p>
        </p:txBody>
      </p:sp>
    </p:spTree>
    <p:extLst>
      <p:ext uri="{BB962C8B-B14F-4D97-AF65-F5344CB8AC3E}">
        <p14:creationId xmlns:p14="http://schemas.microsoft.com/office/powerpoint/2010/main" val="140713718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77E7C82-DA3D-41D0-84C5-E8C133EFE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14"/>
          </a:solidFill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5E20396E-AC3B-4E4E-84D2-D264F54F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F4D4"/>
          </a:solidFill>
        </p:spPr>
      </p:sp>
      <p:sp>
        <p:nvSpPr>
          <p:cNvPr id="3" name="hotline-accent">
            <a:extLst xmlns:a="http://schemas.openxmlformats.org/drawingml/2006/main">
              <a:ext uri="{FF2B5EF4-FFF2-40B4-BE49-F238E27FC236}">
                <a16:creationId xmlns:a16="http://schemas.microsoft.com/office/drawing/2014/main" id="{B3AAEF91-E32D-44A9-B8D4-34C4C5858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896A100-5EDF-404A-AE5F-D2D862C20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438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7CFF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5B9D51-B331-464A-8AE2-ED896B07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71500"/>
            <a:ext cx="914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EB3C9"/>
                </a:solidFill>
              </a:defRPr>
            </a:pPr>
            <a:r>
              <a:t>CASE FLOW 3/5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6588E8-EEA7-4CA3-BA57-9114B37E6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85850"/>
            <a:ext cx="6991350" cy="17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FFFFF"/>
                </a:solidFill>
              </a:defRPr>
            </a:pPr>
            <a:r>
              <a:t>Memory + Skill Retrieval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75C7C0-EF8A-46A5-B319-0CC57D00D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90850"/>
            <a:ext cx="68770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B9C7D8"/>
                </a:solidFill>
              </a:defRPr>
            </a:pPr>
            <a:r>
              <a:t>The learning layer remembers validation outcomes and retrieves human-reviewed skills. It suggests tactics; it does not silently rewrite emergency policy.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F41495-EEAD-4D7B-931E-2F97DCAF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229725"/>
            <a:ext cx="1322908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CAF0D1-1672-4044-9B0D-9EF069C6E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9372600"/>
            <a:ext cx="114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1220"/>
                </a:solidFill>
              </a:defRPr>
            </a:pPr>
            <a:r>
              <a:t>1. CALL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5F3D19-A165-45BF-819E-34D9229B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8258" y="9229725"/>
            <a:ext cx="1322908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3B4E"/>
          </a:solidFill>
          <a:ln xmlns:a="http://schemas.openxmlformats.org/drawingml/2006/main" w="9525">
            <a:solidFill>
              <a:srgbClr val="FF3B4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A93C50-3896-49CE-9117-00026F4E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9372600"/>
            <a:ext cx="114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1220"/>
                </a:solidFill>
              </a:defRPr>
            </a:pPr>
            <a:r>
              <a:t>2. SIGNALS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C7B98E-2CA4-4892-AC49-C26B1F876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416" y="9229725"/>
            <a:ext cx="1322908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17CFF"/>
          </a:solidFill>
          <a:ln xmlns:a="http://schemas.openxmlformats.org/drawingml/2006/main" w="9525">
            <a:solidFill>
              <a:srgbClr val="B17C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37B042-EE75-4BE7-B14B-D5C9EA2A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9372600"/>
            <a:ext cx="114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1220"/>
                </a:solidFill>
              </a:defRPr>
            </a:pPr>
            <a:r>
              <a:t>3. MEMORY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F94C17-57E3-4363-A4C8-17188FCF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4575" y="9229725"/>
            <a:ext cx="1322908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2940"/>
          </a:solidFill>
          <a:ln xmlns:a="http://schemas.openxmlformats.org/drawingml/2006/main" w="9525">
            <a:solidFill>
              <a:srgbClr val="2B3A5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5F0758-8EFA-4B27-887A-D0BA8D771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9372600"/>
            <a:ext cx="114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1A4BA"/>
                </a:solidFill>
              </a:defRPr>
            </a:pPr>
            <a:r>
              <a:t>4. TOOLS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332894-4377-46E9-8A18-C943D28E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2733" y="9229725"/>
            <a:ext cx="1322908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2940"/>
          </a:solidFill>
          <a:ln xmlns:a="http://schemas.openxmlformats.org/drawingml/2006/main" w="9525">
            <a:solidFill>
              <a:srgbClr val="2B3A5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374179-B3F6-45E7-87C8-13521EC3A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9372600"/>
            <a:ext cx="114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1A4BA"/>
                </a:solidFill>
              </a:defRPr>
            </a:pPr>
            <a:r>
              <a:t>5. BRIEF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8D9B67-71F8-4F32-BED5-02B472B50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4741" y="2057400"/>
            <a:ext cx="4758395" cy="14287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0C1727"/>
          </a:solidFill>
          <a:ln xmlns:a="http://schemas.openxmlformats.org/drawingml/2006/main" w="9525">
            <a:solidFill>
              <a:srgbClr val="B17C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27DAE0-429E-40F9-A25B-06857B9A8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717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17CFF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E98027-DF31-4F45-89BC-B7038B6E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95550"/>
            <a:ext cx="4152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t>Experience ledger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382C10-63D0-48D8-BC74-22D98C3CB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57500"/>
            <a:ext cx="4381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7D8"/>
                </a:solidFill>
              </a:defRPr>
            </a:pPr>
            <a:r>
              <a:t>Case fingerprint, signals, local score, failure mode.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8BFCEF-7951-468D-9B22-782D21A6B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4741" y="3638550"/>
            <a:ext cx="4758395" cy="14287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0C1727"/>
          </a:solidFill>
          <a:ln xmlns:a="http://schemas.openxmlformats.org/drawingml/2006/main" w="9525">
            <a:solidFill>
              <a:srgbClr val="20F4D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A9E363-2D21-4E34-AB93-072C4DAD9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152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F4D4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00A3EE-65D0-44CE-AC25-DED1EA50F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76700"/>
            <a:ext cx="4152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t>Validation memory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C399A2-9213-4F6C-A782-61C12AC4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438650"/>
            <a:ext cx="4381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7D8"/>
                </a:solidFill>
              </a:defRPr>
            </a:pPr>
            <a:r>
              <a:t>Similar oxygen-outage cases retrieved for safer routing.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01665A-A922-45F8-841F-237247D6E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4741" y="5219700"/>
            <a:ext cx="4758395" cy="14287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0C1727"/>
          </a:solidFill>
          <a:ln xmlns:a="http://schemas.openxmlformats.org/drawingml/2006/main" w="9525">
            <a:solidFill>
              <a:srgbClr val="46E88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0FB307-13F2-4DC8-B06F-2089C8E61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638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E88B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140681-182A-44F8-82B1-632B773E8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562600"/>
            <a:ext cx="4152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t>Skill library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F6D103-79F1-48FB-A760-9B806A469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905500"/>
            <a:ext cx="4381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7D8"/>
                </a:solidFill>
              </a:defRPr>
            </a:pPr>
            <a:r>
              <a:t>Medical-power escalation, rumor quarantine, transport barrier handling.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A48E1F-A677-46FF-98D6-CB9E3448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4741" y="6800850"/>
            <a:ext cx="4758395" cy="14287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0C1727"/>
          </a:solidFill>
          <a:ln xmlns:a="http://schemas.openxmlformats.org/drawingml/2006/main" w="9525">
            <a:solidFill>
              <a:srgbClr val="FFB02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63BFB3-D23E-4219-8E74-35D9C0AE8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73152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020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BBC904-669A-4F11-AC52-B3A5942F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7239000"/>
            <a:ext cx="4152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t>Strategy reflection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27666C-F210-41FC-B39F-DBE3818D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7600950"/>
            <a:ext cx="4381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7D8"/>
                </a:solidFill>
              </a:defRPr>
            </a:pPr>
            <a:r>
              <a:t>Produces next-round policy suggestions for human review.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F4E201-DF66-404A-8A9C-C8EB6ADE7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86" y="552450"/>
            <a:ext cx="4305214" cy="9182100"/>
          </a:xfrm>
          <a:prstGeom xmlns:a="http://schemas.openxmlformats.org/drawingml/2006/main" prst="roundRect">
            <a:avLst>
              <a:gd name="adj" fmla="val 885"/>
            </a:avLst>
          </a:prstGeom>
          <a:solidFill xmlns:a="http://schemas.openxmlformats.org/drawingml/2006/main">
            <a:srgbClr val="08111F"/>
          </a:solidFill>
          <a:ln xmlns:a="http://schemas.openxmlformats.org/drawingml/2006/main" w="9525">
            <a:solidFill>
              <a:srgbClr val="385876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57aae318ef494f"/>
          <a:stretch xmlns:a="http://schemas.openxmlformats.org/drawingml/2006/main"/>
        </p:blipFill>
        <p:spPr>
          <a:xfrm xmlns:a="http://schemas.openxmlformats.org/drawingml/2006/main">
            <a:off x="13182686" y="3932658"/>
            <a:ext cx="4305214" cy="242168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68644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BB66A97A-5107-454E-BA9E-59C80087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14"/>
          </a:solidFill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35B71C81-307B-4BD2-9007-843068296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F4D4"/>
          </a:solidFill>
        </p:spPr>
      </p:sp>
      <p:sp>
        <p:nvSpPr>
          <p:cNvPr id="3" name="hotline-accent">
            <a:extLst xmlns:a="http://schemas.openxmlformats.org/drawingml/2006/main">
              <a:ext uri="{FF2B5EF4-FFF2-40B4-BE49-F238E27FC236}">
                <a16:creationId xmlns:a16="http://schemas.microsoft.com/office/drawing/2014/main" id="{3F6EA135-31CF-4BFA-B67E-87EB92E4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13B0FDA-C239-4547-932F-45BFBD76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438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B7FF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C90F64-AB8E-415A-A881-F5DF4BBF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71500"/>
            <a:ext cx="914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EB3C9"/>
                </a:solidFill>
              </a:defRPr>
            </a:pPr>
            <a:r>
              <a:t>CASE FLOW 4/5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25689C-E054-4FC4-B465-3056B21C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85850"/>
            <a:ext cx="6667500" cy="17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FFFFF"/>
                </a:solidFill>
              </a:defRPr>
            </a:pPr>
            <a:r>
              <a:t>Playbook + Tool Sandbox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6208AE-6600-4EB2-AC15-B3CA8FD8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90850"/>
            <a:ext cx="69723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B9C7D8"/>
                </a:solidFill>
              </a:defRPr>
            </a:pPr>
            <a:r>
              <a:t>The system can choose approved checks, but every tool is sandboxed, offline, and whitelisted for auditability.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2A97F0-8E2D-495E-ABC3-3C9886812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229725"/>
            <a:ext cx="1257833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7807B8-1A32-40EA-9F6F-5EC967F9C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9372600"/>
            <a:ext cx="1066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1220"/>
                </a:solidFill>
              </a:defRPr>
            </a:pPr>
            <a:r>
              <a:t>1. CALL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A35FC1-0D15-4342-AFB3-E5F53C4A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3183" y="9229725"/>
            <a:ext cx="1257833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3B4E"/>
          </a:solidFill>
          <a:ln xmlns:a="http://schemas.openxmlformats.org/drawingml/2006/main" w="9525">
            <a:solidFill>
              <a:srgbClr val="FF3B4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8CF01C-09D3-4845-9CB6-27EED20D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9372600"/>
            <a:ext cx="1066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1220"/>
                </a:solidFill>
              </a:defRPr>
            </a:pPr>
            <a:r>
              <a:t>2. SIGNALS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ADF470-1B56-446D-9F71-5187FBECD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6267" y="9229725"/>
            <a:ext cx="1257833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17CFF"/>
          </a:solidFill>
          <a:ln xmlns:a="http://schemas.openxmlformats.org/drawingml/2006/main" w="9525">
            <a:solidFill>
              <a:srgbClr val="B17C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C9F01C-AEED-4E09-A7F5-B33EE854E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9372600"/>
            <a:ext cx="1066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1220"/>
                </a:solidFill>
              </a:defRPr>
            </a:pPr>
            <a:r>
              <a:t>3. MEMORY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1BA73A-B700-48B1-BD57-9BFB1C883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9350" y="9229725"/>
            <a:ext cx="1257833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4B7FF"/>
          </a:solidFill>
          <a:ln xmlns:a="http://schemas.openxmlformats.org/drawingml/2006/main" w="9525">
            <a:solidFill>
              <a:srgbClr val="44B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24ECD2-ADE4-42CC-945B-949D7D0E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9372600"/>
            <a:ext cx="1066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1220"/>
                </a:solidFill>
              </a:defRPr>
            </a:pPr>
            <a:r>
              <a:t>4. TOOLS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5E91E0-C516-4FE9-9BA8-FEB2AA65A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2434" y="9229725"/>
            <a:ext cx="1257833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2940"/>
          </a:solidFill>
          <a:ln xmlns:a="http://schemas.openxmlformats.org/drawingml/2006/main" w="9525">
            <a:solidFill>
              <a:srgbClr val="2B3A5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BB7459-A7F2-4C53-B32E-3BA8D52A5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9372600"/>
            <a:ext cx="1066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1A4BA"/>
                </a:solidFill>
              </a:defRPr>
            </a:pPr>
            <a:r>
              <a:t>5. BRIEF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C2289D-8DBE-48D3-9E46-DA279DF1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9367" y="552450"/>
            <a:ext cx="5868114" cy="9182100"/>
          </a:xfrm>
          <a:prstGeom xmlns:a="http://schemas.openxmlformats.org/drawingml/2006/main" prst="roundRect">
            <a:avLst>
              <a:gd name="adj" fmla="val 649"/>
            </a:avLst>
          </a:prstGeom>
          <a:solidFill xmlns:a="http://schemas.openxmlformats.org/drawingml/2006/main">
            <a:srgbClr val="08111F"/>
          </a:solidFill>
          <a:ln xmlns:a="http://schemas.openxmlformats.org/drawingml/2006/main" w="9525">
            <a:solidFill>
              <a:srgbClr val="36506F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b3ba5a97264fee"/>
          <a:stretch xmlns:a="http://schemas.openxmlformats.org/drawingml/2006/main"/>
        </p:blipFill>
        <p:spPr>
          <a:xfrm xmlns:a="http://schemas.openxmlformats.org/drawingml/2006/main">
            <a:off x="7889367" y="3493093"/>
            <a:ext cx="5868114" cy="3300814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6507BB-4B88-410D-ABC7-EC5EAFD1F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7031" y="1866900"/>
            <a:ext cx="3520869" cy="1524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0C1727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EE8796-048A-429B-A3EA-F188CA7AD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24384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FD8394-85FE-4C2F-8DC4-47497820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2362200"/>
            <a:ext cx="2914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t>PB-MEDICAL-POWER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A1DA4D-3E1F-4B7A-AE2F-F0D03DAA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2705100"/>
            <a:ext cx="3143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9C7D8"/>
                </a:solidFill>
              </a:defRPr>
            </a:pPr>
            <a:r>
              <a:t>Powered medical-device risk.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600C86-B149-48F0-B952-4D9BB7B6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7031" y="3543300"/>
            <a:ext cx="3520869" cy="1524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0C1727"/>
          </a:solidFill>
          <a:ln xmlns:a="http://schemas.openxmlformats.org/drawingml/2006/main" w="9525">
            <a:solidFill>
              <a:srgbClr val="FFB02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BB484B-A473-42D7-81A4-745911ED0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4114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020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6850C8-D327-49DF-AFB0-9B0B1F829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4038600"/>
            <a:ext cx="2914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t>PB-SHELTER-CAPACITY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BFC36C-798A-4E26-B857-9C5A7C3D9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4381500"/>
            <a:ext cx="3143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9C7D8"/>
                </a:solidFill>
              </a:defRPr>
            </a:pPr>
            <a:r>
              <a:t>Official check required.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FB4175-8B69-4230-89C4-9643C9645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7031" y="5219700"/>
            <a:ext cx="3520869" cy="1524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0C1727"/>
          </a:solidFill>
          <a:ln xmlns:a="http://schemas.openxmlformats.org/drawingml/2006/main" w="9525">
            <a:solidFill>
              <a:srgbClr val="44B7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2BD6D9-9FBD-43D4-B970-C3BE446D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57912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B7FF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28E957-63C2-4B85-B099-F7045E45B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5715000"/>
            <a:ext cx="2914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t>PB-TRANSPORT-BARRIER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338F38-5DE6-42C4-AD7B-DC4ECB0C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6057900"/>
            <a:ext cx="3143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9C7D8"/>
                </a:solidFill>
              </a:defRPr>
            </a:pPr>
            <a:r>
              <a:t>Do not invent vehicles.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E75BC2-02B6-4B68-804C-97CDE3E38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7031" y="6896100"/>
            <a:ext cx="3520869" cy="1524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0C1727"/>
          </a:solidFill>
          <a:ln xmlns:a="http://schemas.openxmlformats.org/drawingml/2006/main" w="9525">
            <a:solidFill>
              <a:srgbClr val="FF3B4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DE48B8-7CCD-4496-BB6D-2FF3CB1E4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74676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4E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5C40F57-C665-4C49-AEB2-9F83D688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7391400"/>
            <a:ext cx="2914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t>No live calls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EE84696-282D-4202-B91F-B42F84FEA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7734300"/>
            <a:ext cx="3143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9C7D8"/>
                </a:solidFill>
              </a:defRPr>
            </a:pPr>
            <a:r>
              <a:t>Responder review only.</a:t>
            </a:r>
          </a:p>
        </p:txBody>
      </p:sp>
    </p:spTree>
    <p:extLst>
      <p:ext uri="{BB962C8B-B14F-4D97-AF65-F5344CB8AC3E}">
        <p14:creationId xmlns:p14="http://schemas.microsoft.com/office/powerpoint/2010/main" val="85039886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728B711-7D36-4C68-B777-75901178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14"/>
          </a:solidFill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CB5AF86A-B613-4F85-BEEC-6A8516852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F4D4"/>
          </a:solidFill>
        </p:spPr>
      </p:sp>
      <p:sp>
        <p:nvSpPr>
          <p:cNvPr id="3" name="hotline-accent">
            <a:extLst xmlns:a="http://schemas.openxmlformats.org/drawingml/2006/main">
              <a:ext uri="{FF2B5EF4-FFF2-40B4-BE49-F238E27FC236}">
                <a16:creationId xmlns:a16="http://schemas.microsoft.com/office/drawing/2014/main" id="{0B964954-CB35-4991-95F0-31E6533A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88B0B89-6B41-4123-A1D1-DD915291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438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E88B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478357-FAB5-4DA8-B1D4-213902838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71500"/>
            <a:ext cx="914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EB3C9"/>
                </a:solidFill>
              </a:defRPr>
            </a:pPr>
            <a:r>
              <a:t>CASE FLOW 5/5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A8D0D8-7E0E-4871-9180-2B601774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85850"/>
            <a:ext cx="6667500" cy="17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FFFFF"/>
                </a:solidFill>
              </a:defRPr>
            </a:pPr>
            <a:r>
              <a:t>Transfer Brief + Audit JSON Export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83F995-6C0D-4034-846B-D87946BBC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90850"/>
            <a:ext cx="7239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B9C7D8"/>
                </a:solidFill>
              </a:defRPr>
            </a:pPr>
            <a:r>
              <a:t>Gemma 4 drafts the human-readable language. The safety contract then verifies the sixteen-section response and exports structured proof.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98332D-C141-4DF2-9D3D-D4319916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229725"/>
            <a:ext cx="1257833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A99252-F696-4148-8359-BCAD7B96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9372600"/>
            <a:ext cx="1066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1220"/>
                </a:solidFill>
              </a:defRPr>
            </a:pPr>
            <a:r>
              <a:t>1. CALL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30F6ED-07BF-4036-A970-FBBA2EE55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3183" y="9229725"/>
            <a:ext cx="1257833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3B4E"/>
          </a:solidFill>
          <a:ln xmlns:a="http://schemas.openxmlformats.org/drawingml/2006/main" w="9525">
            <a:solidFill>
              <a:srgbClr val="FF3B4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B6781B-47A1-43CF-A646-9BA8DEC9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9372600"/>
            <a:ext cx="1066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1220"/>
                </a:solidFill>
              </a:defRPr>
            </a:pPr>
            <a:r>
              <a:t>2. SIGNALS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2DA8BF-2824-4B20-B112-FFCF80639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6267" y="9229725"/>
            <a:ext cx="1257833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17CFF"/>
          </a:solidFill>
          <a:ln xmlns:a="http://schemas.openxmlformats.org/drawingml/2006/main" w="9525">
            <a:solidFill>
              <a:srgbClr val="B17C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67A0C8-F5B5-4813-A77C-ED9AF2DDB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9372600"/>
            <a:ext cx="1066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1220"/>
                </a:solidFill>
              </a:defRPr>
            </a:pPr>
            <a:r>
              <a:t>3. MEMORY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D5535F-BFE2-42AE-9D59-C2D3B3974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9350" y="9229725"/>
            <a:ext cx="1257833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4B7FF"/>
          </a:solidFill>
          <a:ln xmlns:a="http://schemas.openxmlformats.org/drawingml/2006/main" w="9525">
            <a:solidFill>
              <a:srgbClr val="44B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9C6A93-1B4F-4FCA-B757-9824086F4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9372600"/>
            <a:ext cx="1066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1220"/>
                </a:solidFill>
              </a:defRPr>
            </a:pPr>
            <a:r>
              <a:t>4. TOOLS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994640-4BC0-44D3-8910-A0BB6994C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2434" y="9229725"/>
            <a:ext cx="1257833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E88B"/>
          </a:solidFill>
          <a:ln xmlns:a="http://schemas.openxmlformats.org/drawingml/2006/main" w="9525">
            <a:solidFill>
              <a:srgbClr val="46E88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1D7B85-B618-4026-8ED5-77CC61936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9372600"/>
            <a:ext cx="1066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1220"/>
                </a:solidFill>
              </a:defRPr>
            </a:pPr>
            <a:r>
              <a:t>5. BRIEF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4AFDDF-B57A-403D-87B1-31ADDF7A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9367" y="552450"/>
            <a:ext cx="4694492" cy="9182100"/>
          </a:xfrm>
          <a:prstGeom xmlns:a="http://schemas.openxmlformats.org/drawingml/2006/main" prst="roundRect">
            <a:avLst>
              <a:gd name="adj" fmla="val 812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9525">
            <a:solidFill>
              <a:srgbClr val="46E88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9B63F5-5C36-4221-9D10-2AF4AAE01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781050"/>
            <a:ext cx="4229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6E88B"/>
                </a:solidFill>
              </a:defRPr>
            </a:pPr>
            <a:r>
              <a:t>TRANSFER BRIEF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5E374D-552D-4767-9C69-FCCF2B0AC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143000"/>
            <a:ext cx="4229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D8E4F0"/>
                </a:solidFill>
              </a:defRPr>
            </a:pPr>
            <a:r>
              <a:t>Incident: powered oxygen device + outage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5F0225-0E89-4EEE-A404-C066C447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504950"/>
            <a:ext cx="4229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D8E4F0"/>
                </a:solidFill>
              </a:defRPr>
            </a:pPr>
            <a:r>
              <a:t>Risk: high; human review required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8126C7-DFC0-4D8C-BAB3-CC36E68E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47850"/>
            <a:ext cx="4229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D8E4F0"/>
                </a:solidFill>
              </a:defRPr>
            </a:pPr>
            <a:r>
              <a:t>Do not promise: wait time, shelter beds, transport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0F0696-DBA5-4CFE-BB9F-DB89586D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09800"/>
            <a:ext cx="4229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D8E4F0"/>
                </a:solidFill>
              </a:defRPr>
            </a:pPr>
            <a:r>
              <a:t>Check: emergency / utility medical-priority route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DCE8B1-BB70-4A0B-89B5-6BB75974E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71750"/>
            <a:ext cx="4229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0F4D4"/>
                </a:solidFill>
              </a:defRPr>
            </a:pPr>
            <a:r>
              <a:t>Export: audit_trace.json + responder_packet.json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BDFB1D-AE6D-4FD8-97A0-4051E01D2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3408" y="552450"/>
            <a:ext cx="4694492" cy="9182100"/>
          </a:xfrm>
          <a:prstGeom xmlns:a="http://schemas.openxmlformats.org/drawingml/2006/main" prst="roundRect">
            <a:avLst>
              <a:gd name="adj" fmla="val 812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9525">
            <a:solidFill>
              <a:srgbClr val="20F4D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20EB22-8EC1-41A7-8A05-E11FD230C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781050"/>
            <a:ext cx="4229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0F4D4"/>
                </a:solidFill>
              </a:defRPr>
            </a:pPr>
            <a:r>
              <a:t>audit_trace.json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32496E-09E2-4567-8315-74D442860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1143000"/>
            <a:ext cx="4229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D8E4F0"/>
                </a:solidFill>
              </a:defRPr>
            </a:pPr>
            <a:r>
              <a:t>{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A7A0ED-9FA4-415A-AAD5-CCCDDF43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1504950"/>
            <a:ext cx="4229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D8E4F0"/>
                </a:solidFill>
              </a:defRPr>
            </a:pPr>
            <a:r>
              <a:t>  "risk_level": "high",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E4A2E4-5202-480A-9882-98500BB94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1866900"/>
            <a:ext cx="4229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D8E4F0"/>
                </a:solidFill>
              </a:defRPr>
            </a:pPr>
            <a:r>
              <a:t>  "signals": ["oxygen","outage","rumor"],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B7CCDF-6F84-4A70-8B56-DEB6C948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2228850"/>
            <a:ext cx="4229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D8E4F0"/>
                </a:solidFill>
              </a:defRPr>
            </a:pPr>
            <a:r>
              <a:t>  "blocked_claims": ["capacity","transport"],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55D99A-56C4-47B6-AA61-C9783DC2C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2609850"/>
            <a:ext cx="4229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D8E4F0"/>
                </a:solidFill>
              </a:defRPr>
            </a:pPr>
            <a:r>
              <a:t>  "human_review": true,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C3ACD5-2CEB-435F-8E44-DAA8FF6A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2971800"/>
            <a:ext cx="4229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D8E4F0"/>
                </a:solidFill>
              </a:defRPr>
            </a:pPr>
            <a:r>
              <a:t>  "ready_to_submit": true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00F8277-B53B-4268-9427-2BF9F19B4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3333750"/>
            <a:ext cx="4229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D8E4F0"/>
                </a:solidFill>
              </a:defRPr>
            </a:pPr>
            <a: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3733998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9E3F213-AB77-46C0-9751-636DB59ED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14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4751ED-5A16-4995-8914-1F654F180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oundRect">
            <a:avLst>
              <a:gd name="adj" fmla="val 370"/>
            </a:avLst>
          </a:prstGeom>
          <a:solidFill xmlns:a="http://schemas.openxmlformats.org/drawingml/2006/main">
            <a:srgbClr val="08111F"/>
          </a:solidFill>
          <a:ln xmlns:a="http://schemas.openxmlformats.org/drawingml/2006/main" w="9525">
            <a:solidFill>
              <a:srgbClr val="050B14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5eab8ffe674b9b"/>
          <a:stretch xmlns:a="http://schemas.openxmlformats.org/drawingml/2006/main"/>
        </p:blipFill>
        <p:spPr>
          <a:xfrm xmlns:a="http://schemas.openxmlformats.org/drawingml/2006/main">
            <a:off x="1337310" y="0"/>
            <a:ext cx="15613380" cy="10287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6C38D9-EBDB-4432-BB3D-67D091860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14">
              <a:alpha val="72000"/>
            </a:srgbClr>
          </a:solidFill>
        </p:spPr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3F4B98D-2180-4250-BE68-0855ED10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438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F4D4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98A3C6-9542-46EE-A405-8D75C46F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66750"/>
            <a:ext cx="666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EB3C9"/>
                </a:solidFill>
              </a:defRPr>
            </a:pPr>
            <a:r>
              <a:t>LIVE DEMO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92E5E3-F831-44DB-B195-52A205BF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85850"/>
            <a:ext cx="5848350" cy="17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FFFFF"/>
                </a:solidFill>
              </a:defRPr>
            </a:pPr>
            <a:r>
              <a:t>30-second reviewer path.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0B7658-89EB-479E-A89C-DC3073E2B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71800"/>
            <a:ext cx="66675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B9C7D8"/>
                </a:solidFill>
              </a:defRPr>
            </a:pPr>
            <a:r>
              <a:t>Project background, method, architecture, safety mechanisms, validation result, demo link, and audit evidence are visible without opening internal notes.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EF1100-30DD-473A-8CAA-6D111FAD0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286750"/>
            <a:ext cx="5856732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E88B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E47A05-94A2-47A9-9021-AB73BF462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401050"/>
            <a:ext cx="5562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t>Validation: Demo 2/2 | Holdout 2/2 | Stress 15/15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85315B-455B-46EE-9B55-F8E40EB2A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801100"/>
            <a:ext cx="5856732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F4D4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68A300-F335-4408-889E-3818EA34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915400"/>
            <a:ext cx="5562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t>Transfer Brief + Audit Trace + JSON Export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F6BA64-1AD3-4C43-9918-183EF6E10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315450"/>
            <a:ext cx="5856732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D1153A-A269-4DCF-B99F-541016624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429750"/>
            <a:ext cx="5562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t>No diagnosis | No invented capacity | No emergency-service replacement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098054-8BA2-4FFC-B99B-3F6F5791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5932" y="571500"/>
            <a:ext cx="10411968" cy="9144000"/>
          </a:xfrm>
          <a:prstGeom xmlns:a="http://schemas.openxmlformats.org/drawingml/2006/main" prst="roundRect">
            <a:avLst>
              <a:gd name="adj" fmla="val 417"/>
            </a:avLst>
          </a:prstGeom>
          <a:solidFill xmlns:a="http://schemas.openxmlformats.org/drawingml/2006/main">
            <a:srgbClr val="07111F">
              <a:alpha val="92000"/>
            </a:srgbClr>
          </a:solidFill>
          <a:ln xmlns:a="http://schemas.openxmlformats.org/drawingml/2006/main" w="9525">
            <a:solidFill>
              <a:srgbClr val="39567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37F5E7-0445-44AF-B4A7-2AF58F60D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8332" y="1495425"/>
            <a:ext cx="10107168" cy="5905500"/>
          </a:xfrm>
          <a:prstGeom xmlns:a="http://schemas.openxmlformats.org/drawingml/2006/main" prst="roundRect">
            <a:avLst>
              <a:gd name="adj" fmla="val 645"/>
            </a:avLst>
          </a:prstGeom>
          <a:solidFill xmlns:a="http://schemas.openxmlformats.org/drawingml/2006/main">
            <a:srgbClr val="08111F"/>
          </a:solidFill>
          <a:ln xmlns:a="http://schemas.openxmlformats.org/drawingml/2006/main" w="9525">
            <a:solidFill>
              <a:srgbClr val="4A6688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9d73ba0f804d77"/>
          <a:stretch xmlns:a="http://schemas.openxmlformats.org/drawingml/2006/main"/>
        </p:blipFill>
        <p:spPr>
          <a:xfrm xmlns:a="http://schemas.openxmlformats.org/drawingml/2006/main">
            <a:off x="7800298" y="1495425"/>
            <a:ext cx="8963237" cy="59055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F46784-8448-451C-A007-A184E5223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8332" y="7553325"/>
            <a:ext cx="1238250" cy="12382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5aa17b7b7b4e83"/>
          <a:stretch xmlns:a="http://schemas.openxmlformats.org/drawingml/2006/main"/>
        </p:blipFill>
        <p:spPr>
          <a:xfrm xmlns:a="http://schemas.openxmlformats.org/drawingml/2006/main">
            <a:off x="7304532" y="7629525"/>
            <a:ext cx="1085850" cy="108585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1C1324-A945-41CD-B272-9F6EE600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7886700"/>
            <a:ext cx="8724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</a:defRPr>
            </a:pPr>
            <a:r>
              <a:t>Scan the demo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C2201B-2941-49F2-AF85-83491DE8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8248650"/>
            <a:ext cx="8724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B9C7D8"/>
                </a:solidFill>
              </a:defRPr>
            </a:pPr>
            <a:r>
              <a:t>GitHub Pages static version; no online API dependency.</a:t>
            </a:r>
          </a:p>
        </p:txBody>
      </p:sp>
    </p:spTree>
    <p:extLst>
      <p:ext uri="{BB962C8B-B14F-4D97-AF65-F5344CB8AC3E}">
        <p14:creationId xmlns:p14="http://schemas.microsoft.com/office/powerpoint/2010/main" val="190923724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F161314-C2AA-4BD5-A8B2-DAA7623C5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14"/>
          </a:solidFill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79A77C07-DB64-48DA-AD24-BD61F77FE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F4D4"/>
          </a:solidFill>
        </p:spPr>
      </p:sp>
      <p:sp>
        <p:nvSpPr>
          <p:cNvPr id="3" name="hotline-accent">
            <a:extLst xmlns:a="http://schemas.openxmlformats.org/drawingml/2006/main">
              <a:ext uri="{FF2B5EF4-FFF2-40B4-BE49-F238E27FC236}">
                <a16:creationId xmlns:a16="http://schemas.microsoft.com/office/drawing/2014/main" id="{00E1F92D-0193-4109-B4EF-3AE2EB05C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B9C814D-2EF9-444F-9FAD-37937D7C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438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E88B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F9D0B3-1399-4A3D-86AC-520D2889B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71500"/>
            <a:ext cx="590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EB3C9"/>
                </a:solidFill>
              </a:defRPr>
            </a:pPr>
            <a:r>
              <a:t>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EA3E2B-4EF3-43E8-B12C-C297DE96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09650"/>
            <a:ext cx="12096750" cy="17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FFFFF"/>
                </a:solidFill>
              </a:defRPr>
            </a:pPr>
            <a:r>
              <a:t>The claims are backed by local gates and Kaggle evidence.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889C7F-0053-497F-A990-20C33BF1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13710"/>
            <a:ext cx="3841623" cy="1333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0D1B2A"/>
          </a:solidFill>
          <a:ln xmlns:a="http://schemas.openxmlformats.org/drawingml/2006/main" w="9525">
            <a:solidFill>
              <a:srgbClr val="243E5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3A6C38-F492-4CC4-8493-A58A68C1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57550"/>
            <a:ext cx="3429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20F4D4"/>
                </a:solidFill>
              </a:defRPr>
            </a:pPr>
            <a:r>
              <a:t>2/2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57D5AB-3BA5-4496-B15A-6445220CE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05250"/>
            <a:ext cx="342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CE8F6"/>
                </a:solidFill>
              </a:defRPr>
            </a:pPr>
            <a:r>
              <a:t>demo cases pass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B8B0B1-AF1A-4E55-B888-AF3245F3D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3173" y="3013710"/>
            <a:ext cx="3841623" cy="1333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0D1B2A"/>
          </a:solidFill>
          <a:ln xmlns:a="http://schemas.openxmlformats.org/drawingml/2006/main" w="9525">
            <a:solidFill>
              <a:srgbClr val="243E5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17AF04-F3B9-4845-B0BC-523D8DC15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257550"/>
            <a:ext cx="3429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46E88B"/>
                </a:solidFill>
              </a:defRPr>
            </a:pPr>
            <a:r>
              <a:t>2/2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425026-6802-41F2-B372-4F1688299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905250"/>
            <a:ext cx="342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CE8F6"/>
                </a:solidFill>
              </a:defRPr>
            </a:pPr>
            <a:r>
              <a:t>holdout cases pass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A0B96E-6AD2-4736-99B9-97AFCF5DD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65090"/>
            <a:ext cx="3841623" cy="1333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0D1B2A"/>
          </a:solidFill>
          <a:ln xmlns:a="http://schemas.openxmlformats.org/drawingml/2006/main" w="9525">
            <a:solidFill>
              <a:srgbClr val="243E5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5146F5-FB61-4942-938A-25FE3F2D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10200"/>
            <a:ext cx="3429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6B35"/>
                </a:solidFill>
              </a:defRPr>
            </a:pPr>
            <a:r>
              <a:t>15/15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C47317-ABB9-414A-8F9C-1FB5284D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038850"/>
            <a:ext cx="342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CE8F6"/>
                </a:solidFill>
              </a:defRPr>
            </a:pPr>
            <a:r>
              <a:t>stress cases pass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E9507E-878E-4EF8-A466-0F0F6E15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3173" y="5165090"/>
            <a:ext cx="3841623" cy="1333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0D1B2A"/>
          </a:solidFill>
          <a:ln xmlns:a="http://schemas.openxmlformats.org/drawingml/2006/main" w="9525">
            <a:solidFill>
              <a:srgbClr val="243E5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948D13-23D1-4127-8712-2167EEEF3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410200"/>
            <a:ext cx="3429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44B7FF"/>
                </a:solidFill>
              </a:defRPr>
            </a:pPr>
            <a:r>
              <a:t>16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C02CFD-DA82-4F35-AE41-E18270A0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038850"/>
            <a:ext cx="342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CE8F6"/>
                </a:solidFill>
              </a:defRPr>
            </a:pPr>
            <a:r>
              <a:t>response sections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16F42F-1222-43F7-BAC1-200CD5E7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316470"/>
            <a:ext cx="3841623" cy="1333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0D1B2A"/>
          </a:solidFill>
          <a:ln xmlns:a="http://schemas.openxmlformats.org/drawingml/2006/main" w="9525">
            <a:solidFill>
              <a:srgbClr val="243E5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226394-8E06-407F-8703-30CDB00B5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7562850"/>
            <a:ext cx="3429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B17CFF"/>
                </a:solidFill>
              </a:defRPr>
            </a:pPr>
            <a:r>
              <a:t>53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4A943A-FC4D-485D-BA33-17AE49BCB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8191500"/>
            <a:ext cx="342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CE8F6"/>
                </a:solidFill>
              </a:defRPr>
            </a:pPr>
            <a:r>
              <a:t>memory records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6D9D32-E63C-425F-8D66-C4A6E03AB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3173" y="7316470"/>
            <a:ext cx="3841623" cy="1333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0D1B2A"/>
          </a:solidFill>
          <a:ln xmlns:a="http://schemas.openxmlformats.org/drawingml/2006/main" w="9525">
            <a:solidFill>
              <a:srgbClr val="243E5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226C64-7647-4AFF-AC71-EC31DE99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7562850"/>
            <a:ext cx="3429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B020"/>
                </a:solidFill>
              </a:defRPr>
            </a:pPr>
            <a:r>
              <a:t>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6E267A-EE2A-410D-962C-F05F4077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8191500"/>
            <a:ext cx="342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CE8F6"/>
                </a:solidFill>
              </a:defRPr>
            </a:pPr>
            <a:r>
              <a:t>skills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7520C8-FCCA-48E6-9606-3DAB788E7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646" y="3013710"/>
            <a:ext cx="8509254" cy="6282690"/>
          </a:xfrm>
          <a:prstGeom xmlns:a="http://schemas.openxmlformats.org/drawingml/2006/main" prst="roundRect">
            <a:avLst>
              <a:gd name="adj" fmla="val 6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8526F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3f0ffd61494e7f"/>
          <a:stretch xmlns:a="http://schemas.openxmlformats.org/drawingml/2006/main"/>
        </p:blipFill>
        <p:spPr>
          <a:xfrm xmlns:a="http://schemas.openxmlformats.org/drawingml/2006/main">
            <a:off x="9555099" y="3089910"/>
            <a:ext cx="7356348" cy="613029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E7B80B-232D-46A9-856D-64786A347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63100"/>
            <a:ext cx="16687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C8EA4"/>
                </a:solidFill>
              </a:defRPr>
            </a:pPr>
            <a:r>
              <a:t>Gemma 4 evidence notebook records model path, runtime, prompt, response, latency, and token count. No fine-tuning or medical capability claim.</a:t>
            </a:r>
          </a:p>
        </p:txBody>
      </p:sp>
    </p:spTree>
    <p:extLst>
      <p:ext uri="{BB962C8B-B14F-4D97-AF65-F5344CB8AC3E}">
        <p14:creationId xmlns:p14="http://schemas.microsoft.com/office/powerpoint/2010/main" val="181629113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718C8603-CABF-41EF-8350-4AD1CD16D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14"/>
          </a:solidFill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A64C15EF-79C7-4941-9E4C-9B6FD645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F4D4"/>
          </a:solidFill>
        </p:spPr>
      </p:sp>
      <p:sp>
        <p:nvSpPr>
          <p:cNvPr id="3" name="hotline-accent">
            <a:extLst xmlns:a="http://schemas.openxmlformats.org/drawingml/2006/main">
              <a:ext uri="{FF2B5EF4-FFF2-40B4-BE49-F238E27FC236}">
                <a16:creationId xmlns:a16="http://schemas.microsoft.com/office/drawing/2014/main" id="{A68B5CC3-DDCF-439F-8DDC-CDBC77B5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7DBA39F-CF8C-4CDA-B535-4093F58F8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438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7CFF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385148-8AD7-43E8-A2D2-07D071C0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47700"/>
            <a:ext cx="1333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EB3C9"/>
                </a:solidFill>
              </a:defRPr>
            </a:pPr>
            <a:r>
              <a:t>NOT JUST WORKFLOW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4178B8-257B-4076-8A62-218078FE4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85850"/>
            <a:ext cx="7162800" cy="17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FFFFF"/>
                </a:solidFill>
              </a:defRPr>
            </a:pPr>
            <a:r>
              <a:t>Agentic, but safety-bounded.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4D0E29-FDDA-4DC1-862D-617B7185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90850"/>
            <a:ext cx="676275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B9C7D8"/>
                </a:solidFill>
              </a:defRPr>
            </a:pPr>
            <a:r>
              <a:t>The system has decision points: route planning, specialist selection, memory retrieval, skill choice, reflection, and policy suggestions. High-risk behavior remains bounded by deterministic contracts and human review.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24707E-AA69-44EC-9925-EB395B50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63100"/>
            <a:ext cx="7162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C8EA4"/>
                </a:solidFill>
              </a:defRPr>
            </a:pPr>
            <a:r>
              <a:t>Future direction: LangGraph-style graph, white-listed official tools, human-reviewed skill promotion.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5ABE7C-BA59-4F5E-BBFC-2DCD95C81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7428" y="552450"/>
            <a:ext cx="4469511" cy="1476375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0C1727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F3FCA9-08A2-4607-B654-B47EA77F0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085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5A68E7-2747-4E2F-9BE1-0AD11F4CE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009650"/>
            <a:ext cx="3867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t>Planner / Coordinator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19887B-D4E7-4199-A878-DCB6A008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371600"/>
            <a:ext cx="4095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7D8"/>
                </a:solidFill>
              </a:defRPr>
            </a:pPr>
            <a:r>
              <a:t>Selects analysis route and merges specialist outputs.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3BDAB4-A69E-4807-AFBB-D08A237B2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8389" y="552450"/>
            <a:ext cx="4469511" cy="1476375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0C1727"/>
          </a:solidFill>
          <a:ln xmlns:a="http://schemas.openxmlformats.org/drawingml/2006/main" w="9525">
            <a:solidFill>
              <a:srgbClr val="B17C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4C6E71-81B0-48C6-9CFE-D2F0C5900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1650" y="1085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17CFF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6EBBD9-37E5-497F-97CD-C2B0121B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009650"/>
            <a:ext cx="3867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t>Bounded Memory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1E0EDA-5973-41CC-A6D0-2666F95E1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1650" y="1371600"/>
            <a:ext cx="4095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7D8"/>
                </a:solidFill>
              </a:defRPr>
            </a:pPr>
            <a:r>
              <a:t>Episodic, semantic, procedural, and reflection records.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C4772E-9FBC-4B1E-BFBE-7E2BF9655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7428" y="3670300"/>
            <a:ext cx="4469511" cy="1476375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0C1727"/>
          </a:solidFill>
          <a:ln xmlns:a="http://schemas.openxmlformats.org/drawingml/2006/main" w="9525">
            <a:solidFill>
              <a:srgbClr val="46E88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506EA2-B693-4D02-A591-6F0C3C82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10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E88B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D53A0D-89B3-4F48-A982-033EF5B6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133850"/>
            <a:ext cx="3867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t>Skill Library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005016-2161-4D2C-8301-8A238575A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76750"/>
            <a:ext cx="4095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7D8"/>
                </a:solidFill>
              </a:defRPr>
            </a:pPr>
            <a:r>
              <a:t>Reusable rescue tactics with safety notes.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22409A-D9D4-4F35-B007-6D30A121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8389" y="3670300"/>
            <a:ext cx="4469511" cy="1476375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0C1727"/>
          </a:solidFill>
          <a:ln xmlns:a="http://schemas.openxmlformats.org/drawingml/2006/main" w="9525">
            <a:solidFill>
              <a:srgbClr val="44B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50CCF3-9462-4C13-981D-E98D6E55F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1650" y="4210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B7FF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96975F-3A70-45D4-B2E3-5B60E62A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4133850"/>
            <a:ext cx="3867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t>Tool Sandbox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DAB120-256E-4D97-BBC1-04A1A65AD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1650" y="4476750"/>
            <a:ext cx="4095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7D8"/>
                </a:solidFill>
              </a:defRPr>
            </a:pPr>
            <a:r>
              <a:t>Offline, whitelisted, no real-world side effects.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DF6F3E-E410-4D6F-B95E-964CAB67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7428" y="6788150"/>
            <a:ext cx="4469511" cy="1476375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0C1727"/>
          </a:solidFill>
          <a:ln xmlns:a="http://schemas.openxmlformats.org/drawingml/2006/main" w="9525">
            <a:solidFill>
              <a:srgbClr val="FFB02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8C8DF7-9322-4898-8F6B-EEABBEB5B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73152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020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4E1931-6962-47A0-8529-6DF89AECA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7239000"/>
            <a:ext cx="3867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t>Strategy Reflection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02B33F-F042-4545-AFC2-018EF1E3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7600950"/>
            <a:ext cx="4095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7D8"/>
                </a:solidFill>
              </a:defRPr>
            </a:pPr>
            <a:r>
              <a:t>Finds failure patterns and suggests next policies.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A62AF8-FCD4-4B34-B555-B1C496633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8389" y="6788150"/>
            <a:ext cx="4469511" cy="1476375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0C1727"/>
          </a:solidFill>
          <a:ln xmlns:a="http://schemas.openxmlformats.org/drawingml/2006/main" w="9525">
            <a:solidFill>
              <a:srgbClr val="FF3B4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A6D90F-2E7D-4F7B-871D-463A7126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1650" y="73152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4E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296098-A074-4296-ACEC-83729BC1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7239000"/>
            <a:ext cx="3867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t>Human Review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E73B10-93F6-4C90-8473-DEFAC2D58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1650" y="7600950"/>
            <a:ext cx="4095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7D8"/>
                </a:solidFill>
              </a:defRPr>
            </a:pPr>
            <a:r>
              <a:t>Controls promotion of learned strategies.</a:t>
            </a:r>
          </a:p>
        </p:txBody>
      </p:sp>
    </p:spTree>
    <p:extLst>
      <p:ext uri="{BB962C8B-B14F-4D97-AF65-F5344CB8AC3E}">
        <p14:creationId xmlns:p14="http://schemas.microsoft.com/office/powerpoint/2010/main" val="153445594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F2BD226-1394-42ED-BA5A-CAE99D75E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14"/>
          </a:solidFill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96E72083-899C-4FCD-B156-02303286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F4D4"/>
          </a:solidFill>
        </p:spPr>
      </p:sp>
      <p:sp>
        <p:nvSpPr>
          <p:cNvPr id="3" name="hotline-accent">
            <a:extLst xmlns:a="http://schemas.openxmlformats.org/drawingml/2006/main">
              <a:ext uri="{FF2B5EF4-FFF2-40B4-BE49-F238E27FC236}">
                <a16:creationId xmlns:a16="http://schemas.microsoft.com/office/drawing/2014/main" id="{9EA1A337-7E65-4FE0-AF0F-F1D801F6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1AAE62A-B8B5-4B1D-9280-DF9D86720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438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4E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2E72F7-97CF-4863-93D5-A518EF055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4770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EB3C9"/>
                </a:solidFill>
              </a:defRPr>
            </a:pPr>
            <a:r>
              <a:t>SAFETY BOUNDARY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2322F1-7E5A-4B51-9A12-704994F6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85850"/>
            <a:ext cx="6667500" cy="2609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FFFFF"/>
                </a:solidFill>
              </a:defRPr>
            </a:pPr>
            <a:r>
              <a:t>The most important product feature is restraint.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348B24-AF81-4B83-BC1F-F2B8FEE6A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67150"/>
            <a:ext cx="73342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B9C7D8"/>
                </a:solidFill>
              </a:defRPr>
            </a:pPr>
            <a:r>
              <a:t>Resilience Copilot is designed to assist responder-reviewed triage. It does not diagnose, promise shelter capacity, invent transport availability, replace emergency services, or hide uncertainty.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005C0A-124C-4B0E-B436-0F5F785E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334500"/>
            <a:ext cx="1110901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3B4E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6B7DB9-1FD6-48FF-98B7-B8D53B2C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448800"/>
            <a:ext cx="800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t>No diagnosis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479DBB-7D33-4D20-8E1F-7D966605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301" y="9334500"/>
            <a:ext cx="1631728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EB5CCE-0209-46E8-9064-E0DFA720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9448800"/>
            <a:ext cx="1333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t>No invented capacity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99FD7E-2B0A-4840-B68E-092DEC3E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328" y="9334500"/>
            <a:ext cx="2048923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020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C65C5F-D0BF-4FB8-B3AF-D10C38ED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9448800"/>
            <a:ext cx="1752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t>No emergency replacement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70F7AC-EC3E-4C9C-8B33-6BF1F6EC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9367" y="552450"/>
            <a:ext cx="9598533" cy="9182100"/>
          </a:xfrm>
          <a:prstGeom xmlns:a="http://schemas.openxmlformats.org/drawingml/2006/main" prst="roundRect">
            <a:avLst>
              <a:gd name="adj" fmla="val 415"/>
            </a:avLst>
          </a:prstGeom>
          <a:solidFill xmlns:a="http://schemas.openxmlformats.org/drawingml/2006/main">
            <a:srgbClr val="08111F"/>
          </a:solidFill>
          <a:ln xmlns:a="http://schemas.openxmlformats.org/drawingml/2006/main" w="9525">
            <a:solidFill>
              <a:srgbClr val="415D7E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0ef005f7934266"/>
          <a:stretch xmlns:a="http://schemas.openxmlformats.org/drawingml/2006/main"/>
        </p:blipFill>
        <p:spPr>
          <a:xfrm xmlns:a="http://schemas.openxmlformats.org/drawingml/2006/main">
            <a:off x="7889367" y="2443913"/>
            <a:ext cx="9598533" cy="53991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10690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9C4ECE2A-7E2D-4C89-8546-1FEE3BB5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14"/>
          </a:solidFill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B7273D81-25AA-4CD7-97DD-935D0D24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F4D4"/>
          </a:solidFill>
        </p:spPr>
      </p:sp>
      <p:sp>
        <p:nvSpPr>
          <p:cNvPr id="3" name="hotline-accent">
            <a:extLst xmlns:a="http://schemas.openxmlformats.org/drawingml/2006/main">
              <a:ext uri="{FF2B5EF4-FFF2-40B4-BE49-F238E27FC236}">
                <a16:creationId xmlns:a16="http://schemas.microsoft.com/office/drawing/2014/main" id="{99EF3D52-DF83-424F-A42A-AC60A2965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15E6255-BB35-4641-AA7B-C26DE3E8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438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F4D4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134DA6-8B60-4B72-8B4E-49473E0E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71500"/>
            <a:ext cx="857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EB3C9"/>
                </a:solidFill>
              </a:defRPr>
            </a:pPr>
            <a:r>
              <a:t>FINAL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3388F0-B908-47C3-8982-BD34AE30F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85850"/>
            <a:ext cx="7696200" cy="2609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FFFFF"/>
                </a:solidFill>
              </a:defRPr>
            </a:pPr>
            <a:r>
              <a:t>Judge the whole packet: product, safety, evidence, reproducibility.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31017E-8D22-4FF9-A941-638009D0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67150"/>
            <a:ext cx="6572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B9C7D8"/>
                </a:solidFill>
              </a:defRPr>
            </a:pPr>
            <a:r>
              <a:t>The project is intentionally locked for final judging: low-risk polish only, no last-minute core logic churn.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1FDBCE-E698-4983-9DDE-E7E33D92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258175"/>
            <a:ext cx="1428750" cy="14287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1ec0853ec546cd"/>
          <a:stretch xmlns:a="http://schemas.openxmlformats.org/drawingml/2006/main"/>
        </p:blipFill>
        <p:spPr>
          <a:xfrm xmlns:a="http://schemas.openxmlformats.org/drawingml/2006/main">
            <a:off x="895350" y="8353425"/>
            <a:ext cx="1238250" cy="1238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670BD8-E686-40D9-859B-AF73DFFF5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8258175"/>
            <a:ext cx="1428750" cy="14287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faa0cdafa34035"/>
          <a:stretch xmlns:a="http://schemas.openxmlformats.org/drawingml/2006/main"/>
        </p:blipFill>
        <p:spPr>
          <a:xfrm xmlns:a="http://schemas.openxmlformats.org/drawingml/2006/main">
            <a:off x="2476500" y="8353425"/>
            <a:ext cx="1238250" cy="12382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6A028C-3FA8-4956-9C4F-5602D9B46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8572500"/>
            <a:ext cx="4572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</a:defRPr>
            </a:pPr>
            <a:r>
              <a:t>Live demo + GitHub repo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59644A-874B-4FB9-956B-2E1A9776D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8972550"/>
            <a:ext cx="4572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B9C7D8"/>
                </a:solidFill>
              </a:defRPr>
            </a:pPr>
            <a:r>
              <a:t>Scan to review the static demo, README, validation badge, final bundle, and reproducibility assets.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1F6A6A-7A82-4C1F-BD6B-C813F63F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6833" y="552450"/>
            <a:ext cx="4184809" cy="1333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0D1B2A"/>
          </a:solidFill>
          <a:ln xmlns:a="http://schemas.openxmlformats.org/drawingml/2006/main" w="9525">
            <a:solidFill>
              <a:srgbClr val="243E5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02333B-8915-45A8-B0C4-6DB519D05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800100"/>
            <a:ext cx="37719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B020"/>
                </a:solidFill>
              </a:defRPr>
            </a:pPr>
            <a:r>
              <a:t>EXP-029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28E5CC-F627-44CB-BD1D-920A383DF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428750"/>
            <a:ext cx="3771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CE8F6"/>
                </a:solidFill>
              </a:defRPr>
            </a:pPr>
            <a:r>
              <a:t>final judge packet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FF9245-0DE3-4D1E-BD0D-B1BB4B979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3091" y="552450"/>
            <a:ext cx="4184809" cy="1333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0D1B2A"/>
          </a:solidFill>
          <a:ln xmlns:a="http://schemas.openxmlformats.org/drawingml/2006/main" w="9525">
            <a:solidFill>
              <a:srgbClr val="243E5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CDE1D9-9DBA-426B-99C5-72996E917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800100"/>
            <a:ext cx="37719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46E88B"/>
                </a:solidFill>
              </a:defRPr>
            </a:pPr>
            <a:r>
              <a:t>ready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F72F80-8BB1-4496-840D-A6FAD217B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1428750"/>
            <a:ext cx="3771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CE8F6"/>
                </a:solidFill>
              </a:defRPr>
            </a:pPr>
            <a:r>
              <a:t>local gate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46965D-72BF-460A-99B3-28FD063C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6833" y="5229225"/>
            <a:ext cx="4184809" cy="1333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0D1B2A"/>
          </a:solidFill>
          <a:ln xmlns:a="http://schemas.openxmlformats.org/drawingml/2006/main" w="9525">
            <a:solidFill>
              <a:srgbClr val="243E5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D23B8F-CCD1-44CF-AFA5-2BEAB073C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467350"/>
            <a:ext cx="37719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20F4D4"/>
                </a:solidFill>
              </a:defRPr>
            </a:pPr>
            <a:r>
              <a:t>Gemma 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817CC8-56E7-4136-805B-BBEB266D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115050"/>
            <a:ext cx="3771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CE8F6"/>
                </a:solidFill>
              </a:defRPr>
            </a:pPr>
            <a:r>
              <a:t>generation proof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5E8ECD-6DA4-47FF-A1F0-C4992654D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3091" y="5229225"/>
            <a:ext cx="4184809" cy="1333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0D1B2A"/>
          </a:solidFill>
          <a:ln xmlns:a="http://schemas.openxmlformats.org/drawingml/2006/main" w="9525">
            <a:solidFill>
              <a:srgbClr val="243E5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14FE51-9A56-45E5-85C5-F7430A270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5467350"/>
            <a:ext cx="37719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B17CFF"/>
                </a:solidFill>
              </a:defRPr>
            </a:pPr>
            <a:r>
              <a:t>safe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8BD844-A737-4093-987E-025021A54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6115050"/>
            <a:ext cx="3771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CE8F6"/>
                </a:solidFill>
              </a:defRPr>
            </a:pPr>
            <a:r>
              <a:t>bounded learning agent</a:t>
            </a:r>
          </a:p>
        </p:txBody>
      </p:sp>
    </p:spTree>
    <p:extLst>
      <p:ext uri="{BB962C8B-B14F-4D97-AF65-F5344CB8AC3E}">
        <p14:creationId xmlns:p14="http://schemas.microsoft.com/office/powerpoint/2010/main" val="16036723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2026-05-24T11:54:08.1770000Z</dcterms:created>
  <dcterms:modified xsi:type="dcterms:W3CDTF">2026-05-24T11:54:08.1770000Z</dcterms:modified>
</coreProperties>
</file>